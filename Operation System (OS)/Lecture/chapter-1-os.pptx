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6"/>
  </p:notesMasterIdLst>
  <p:handoutMasterIdLst>
    <p:handoutMasterId r:id="rId37"/>
  </p:handoutMasterIdLst>
  <p:sldIdLst>
    <p:sldId id="330" r:id="rId2"/>
    <p:sldId id="347" r:id="rId3"/>
    <p:sldId id="348" r:id="rId4"/>
    <p:sldId id="351" r:id="rId5"/>
    <p:sldId id="350" r:id="rId6"/>
    <p:sldId id="349" r:id="rId7"/>
    <p:sldId id="352" r:id="rId8"/>
    <p:sldId id="354" r:id="rId9"/>
    <p:sldId id="355" r:id="rId10"/>
    <p:sldId id="356" r:id="rId11"/>
    <p:sldId id="357" r:id="rId12"/>
    <p:sldId id="358" r:id="rId13"/>
    <p:sldId id="361" r:id="rId14"/>
    <p:sldId id="393" r:id="rId15"/>
    <p:sldId id="363" r:id="rId16"/>
    <p:sldId id="364" r:id="rId17"/>
    <p:sldId id="408" r:id="rId18"/>
    <p:sldId id="366" r:id="rId19"/>
    <p:sldId id="367" r:id="rId20"/>
    <p:sldId id="369" r:id="rId21"/>
    <p:sldId id="370" r:id="rId22"/>
    <p:sldId id="371" r:id="rId23"/>
    <p:sldId id="372" r:id="rId24"/>
    <p:sldId id="373" r:id="rId25"/>
    <p:sldId id="374" r:id="rId26"/>
    <p:sldId id="410" r:id="rId27"/>
    <p:sldId id="376" r:id="rId28"/>
    <p:sldId id="378" r:id="rId29"/>
    <p:sldId id="379" r:id="rId30"/>
    <p:sldId id="380" r:id="rId31"/>
    <p:sldId id="381" r:id="rId32"/>
    <p:sldId id="382" r:id="rId33"/>
    <p:sldId id="407" r:id="rId34"/>
    <p:sldId id="331" r:id="rId35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9" autoAdjust="0"/>
    <p:restoredTop sz="94660"/>
  </p:normalViewPr>
  <p:slideViewPr>
    <p:cSldViewPr snapToGrid="0">
      <p:cViewPr>
        <p:scale>
          <a:sx n="76" d="100"/>
          <a:sy n="76" d="100"/>
        </p:scale>
        <p:origin x="-1224" y="-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handoutMaster" Target="handoutMasters/handoutMaster1.xml" /><Relationship Id="rId40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F9E8FB4-64B6-F011-9538-0FFFF31AC8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A6D6505-A02F-7BD5-BA55-384B3C87687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3591089B-8EDD-23FB-8D86-A0D0271F592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D396A2D-8E84-EBF1-5EA3-4DB6A6D9A8A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anose="020B0604020202020204" pitchFamily="34" charset="0"/>
              </a:defRPr>
            </a:lvl1pPr>
          </a:lstStyle>
          <a:p>
            <a:fld id="{6A065C02-19EB-48C4-B13D-EC7F53A6AA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4BCE829-331C-3711-AAA4-64D5F63DD1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2289656-9396-AC88-06A2-5AF28AB3098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24208334-6BBE-0BE4-FAF3-0E1189FEE84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6AD11F-DF62-F599-A18F-8C2713D5E3E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2A331083-F904-074F-B81D-EC33FD6EB19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2E5AE9B-5E8E-50E8-3752-0577072917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fld id="{4B6562A5-2CD6-4BE8-AC0F-05F71FBA854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CC37480-8558-CE94-FAF0-BFC334A88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689E7E-1705-4C8D-88BD-2D8A4AD8B6A8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43AFB02-AD65-FDBB-E8D7-A3DA140884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180B518-F314-DA77-94F6-538643232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0BCCF8C-3694-E80F-A2D0-3AE6C9549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66E8F44-A6BC-CD48-6577-89B1CB2B1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E8A2629-ACED-15AB-734D-F4000A885C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C8BFAA7-3BA1-0781-5AF5-152B0F8BB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1956C0B-86AC-3095-2003-FAAD1027A2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3E094A3-B8B0-E612-EC7B-CB3EDFD8B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999E114-FF54-0F35-7422-0182CFB9F7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9AD81C9-002C-ECDA-F9CA-05CA72E68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76AE9A2-1DE7-302C-12A6-3D6D895F6B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F044F97-7C30-917D-7BB2-12552AA81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5CF8FC1-6CFF-F288-E054-1173E5BFB3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B762FD8-288A-58A9-E579-82178FC8F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1F88FF7-7679-0A9A-2628-23C797D54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2C31BF1-3791-3DF1-C256-D7AEAA438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8B3184DD-0923-E3A9-1012-1CF47D87E7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C100048-2E53-6DD5-75E2-CA76CDBF5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0D55903-6ACD-5CC0-6C0C-3C35584F21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3E2F290-8404-F55F-125F-F97177152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1F67A67-6724-1E48-61C2-4DB75BC7C5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6B7A6B2-77D8-3049-B79D-1E9DA6F0B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E5E119F7-DC4E-D611-3124-AC09103D43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505F447-3801-31FB-F11B-ECB803443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AEF3836-85C1-FCBF-8297-74C0BC4248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BDAD049-0AE2-F0AA-17DE-CF1EB69ED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C54DEFF-B374-7B3D-43EC-1E9E05186C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CF9E5A2-E522-1B2C-C92E-3015AA72F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C42ED7D-D9DD-4C6A-7E32-BED53AC6B2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696807D-2BBB-10B2-B88D-ADDEF62F9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0EAC1CF-A4C7-D563-81F2-9C4800ADBB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93EBF82-61A3-E083-15B0-FCAAE19B2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D183AB9-C427-0597-7320-AB30E99E7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DA92750-85E0-EA11-7260-8523C1F3A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8A27F8A-FA45-9ECB-BAB7-6CCB887B40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36E1F40-1683-C624-57A9-35DF33BBC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6D350F3-63DF-21C6-22ED-A5878B2194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460FA70-2473-004B-65C9-91302CB1B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B2A68CC-3474-9F9A-38AF-2E5246B9CD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0EDB736-36B8-164D-6110-9A97AB821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5555A89-4E9D-5091-C628-4DCEA1D69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3A050FB-F504-7D28-B435-6BA337F7D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BF3B0D9-6BB3-DF0A-7E57-5632E2D6B5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D1A5519-801D-1413-84D4-4C73B88F4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B6D0EB33-C6E8-6AD0-3013-6F98930715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85443A6E-5C16-5FF6-89C8-5749DFC4E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B7AE36B-2B4D-DBC2-8E2C-34470A944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ED9F873-0173-5AD4-92E5-D7FF4659E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D66C2FD-82FE-47B7-57B9-D15E39143B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A51DEA7-A418-E5D5-08CD-FF18D9FFA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7AC609B-0821-63C6-D40B-227E66740C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BED0A6A-3C79-F205-DCE5-6EE87BD27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ECD91698-32DB-6078-5FB7-B50BA5EB2D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13383BF-387A-37D6-3010-13683202F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D11C009-6E81-875A-ADF8-38133DE6ED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DC98408-18E6-AF16-3082-8F4706DD1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DBC5F38-7B8B-21E3-44EF-B9B33C265B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1A504AB-04FD-DDBD-2518-C72870EE8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A5F93F7-3F00-1ED9-AF84-906D50A26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7302BF1-3BA9-FB21-4556-192E5F3CE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B147AFAF-E861-E335-866F-8C9D2E2775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83604B-94A0-405E-874A-96806988B4B7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32EE2335-7123-D3BC-AD0C-DCA31D7A2F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5C5B608C-DB61-D49E-DE51-E0AB2F512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13B282E4-A621-A26A-D998-2FE79E73FF3D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2DEB17FA-B3B8-3191-25BF-CA1FE7156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F8356C2F-4944-FAAD-78FF-8652FE51B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E713E2A1-D95C-44DA-DB70-FAD552256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6" name="Text Box 7">
            <a:extLst>
              <a:ext uri="{FF2B5EF4-FFF2-40B4-BE49-F238E27FC236}">
                <a16:creationId xmlns:a16="http://schemas.microsoft.com/office/drawing/2014/main" id="{072C2F1D-1F2D-90D9-DD81-D9CB5D523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©2013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DA1EEC02-45C4-CB1C-7023-B8E54083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Edit9on</a:t>
            </a:r>
          </a:p>
        </p:txBody>
      </p:sp>
      <p:pic>
        <p:nvPicPr>
          <p:cNvPr id="8" name="Picture 9" descr="dino_4">
            <a:extLst>
              <a:ext uri="{FF2B5EF4-FFF2-40B4-BE49-F238E27FC236}">
                <a16:creationId xmlns:a16="http://schemas.microsoft.com/office/drawing/2014/main" id="{125E64F3-4F4C-BAAB-B260-F8058552D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161CBCE9-FE59-8746-A58F-633E2BE9B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757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574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430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70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096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338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96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9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331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470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820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2.jpe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87C27D-32CD-BA60-36D0-421A37DEA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1123E9B-16C1-31B5-3CB4-2CA7F475B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6E3FF4E-58A3-E97F-35E8-83819DE2F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2273D1-949D-60A9-BDAA-58759DCC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04B83AC8-0DEA-805D-65C4-A65930F71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146E22D-EE1F-30A1-2E95-FE5CA272A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7799A96-4403-7772-BA9F-D96B5C5AC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D6594F5D-1A7C-8CF8-0E64-95E1E576C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1.</a:t>
            </a:r>
            <a:fld id="{BC89A9E0-033E-4239-8FD2-1828A3A2A48C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0110224-84DC-99D9-4891-38651EA27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©2013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FEC0BE49-F92B-7884-BBE3-3866CA305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F69D23FF-960D-2956-5C4D-DEA0F10D8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7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2DB36B68-3961-4D45-BFB0-BAED651F04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1: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7821B9C-96B0-DC67-83F0-BD4F0A786F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1: Introduction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DC436CC-75CC-AF14-2A8E-0E96627CE5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What Operating Systems Do</a:t>
            </a:r>
          </a:p>
          <a:p>
            <a:r>
              <a:rPr lang="en-US" altLang="en-US"/>
              <a:t>Computer-System Organization</a:t>
            </a:r>
          </a:p>
          <a:p>
            <a:r>
              <a:rPr lang="en-US" altLang="en-US"/>
              <a:t>Computer-System Architecture</a:t>
            </a:r>
          </a:p>
          <a:p>
            <a:r>
              <a:rPr lang="en-US" altLang="en-US"/>
              <a:t>Operating-System Structure</a:t>
            </a:r>
          </a:p>
          <a:p>
            <a:r>
              <a:rPr lang="en-US" altLang="en-US"/>
              <a:t>Operating-System Operations</a:t>
            </a:r>
          </a:p>
          <a:p>
            <a:r>
              <a:rPr lang="en-US" altLang="en-US"/>
              <a:t>Process Management</a:t>
            </a:r>
          </a:p>
          <a:p>
            <a:r>
              <a:rPr lang="en-US" altLang="en-US"/>
              <a:t>Memory Management</a:t>
            </a:r>
          </a:p>
          <a:p>
            <a:r>
              <a:rPr lang="en-US" altLang="en-US"/>
              <a:t>Storage Management</a:t>
            </a:r>
          </a:p>
          <a:p>
            <a:r>
              <a:rPr lang="en-US" altLang="en-US"/>
              <a:t>Protection and Security</a:t>
            </a:r>
          </a:p>
          <a:p>
            <a:r>
              <a:rPr lang="en-US" altLang="en-US"/>
              <a:t>Kernel Data Structures</a:t>
            </a:r>
          </a:p>
          <a:p>
            <a:r>
              <a:rPr lang="en-US" altLang="en-US"/>
              <a:t>Computing Environments</a:t>
            </a:r>
          </a:p>
          <a:p>
            <a:r>
              <a:rPr lang="en-US" altLang="en-US"/>
              <a:t>Open-Source Operating Systems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105300-0747-2458-649A-8CBF652D0C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2E8B152-36D0-E993-E016-006DCF6A762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4350" y="1233488"/>
            <a:ext cx="8478838" cy="4530725"/>
          </a:xfrm>
        </p:spPr>
        <p:txBody>
          <a:bodyPr/>
          <a:lstStyle/>
          <a:p>
            <a:pPr>
              <a:defRPr/>
            </a:pPr>
            <a:r>
              <a:rPr lang="en-US" altLang="en-US" sz="2800" dirty="0"/>
              <a:t>To describe the basic organization of computer systems</a:t>
            </a:r>
          </a:p>
          <a:p>
            <a:pPr>
              <a:defRPr/>
            </a:pPr>
            <a:r>
              <a:rPr lang="en-US" altLang="en-US" sz="2800" dirty="0"/>
              <a:t>To provide a grand tour of the major components of operating systems</a:t>
            </a:r>
          </a:p>
          <a:p>
            <a:pPr>
              <a:defRPr/>
            </a:pPr>
            <a:r>
              <a:rPr lang="en-US" altLang="en-US" sz="2800" dirty="0"/>
              <a:t>To give an overview of the many types of computing environments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sz="2800" dirty="0"/>
          </a:p>
          <a:p>
            <a:pPr>
              <a:buFont typeface="Monotype Sorts" pitchFamily="-84" charset="2"/>
              <a:buNone/>
              <a:defRPr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AA16F6D-E289-7B4D-5E73-E09A3182E4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44550" y="1206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Four Components of a Computer System</a:t>
            </a:r>
          </a:p>
        </p:txBody>
      </p:sp>
      <p:pic>
        <p:nvPicPr>
          <p:cNvPr id="6147" name="Picture 4">
            <a:extLst>
              <a:ext uri="{FF2B5EF4-FFF2-40B4-BE49-F238E27FC236}">
                <a16:creationId xmlns:a16="http://schemas.microsoft.com/office/drawing/2014/main" id="{FCC4B33F-996C-BF94-B00A-26D97DCF3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533525"/>
            <a:ext cx="54483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B7FDC48-61B1-25D2-154A-7C640812B3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18256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Structure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C7390AF-AA43-FBBD-E6C5-1BECDA303C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0588" y="1204913"/>
            <a:ext cx="8104187" cy="4483100"/>
          </a:xfrm>
        </p:spPr>
        <p:txBody>
          <a:bodyPr/>
          <a:lstStyle/>
          <a:p>
            <a:r>
              <a:rPr lang="en-US" altLang="en-US" sz="2000"/>
              <a:t>Computer system can be divided into four components:</a:t>
            </a:r>
          </a:p>
          <a:p>
            <a:pPr lvl="1"/>
            <a:r>
              <a:rPr lang="en-US" altLang="en-US" sz="2000"/>
              <a:t>Hardware – provides basic computing resources</a:t>
            </a:r>
          </a:p>
          <a:p>
            <a:pPr lvl="2"/>
            <a:r>
              <a:rPr lang="en-US" altLang="en-US" sz="2000"/>
              <a:t>CPU, memory, I/O devices</a:t>
            </a:r>
          </a:p>
          <a:p>
            <a:pPr lvl="1"/>
            <a:r>
              <a:rPr lang="en-US" altLang="en-US" sz="2000"/>
              <a:t>Operating system</a:t>
            </a:r>
          </a:p>
          <a:p>
            <a:pPr lvl="2"/>
            <a:r>
              <a:rPr lang="en-US" altLang="en-US" sz="2000"/>
              <a:t>Controls and coordinates use of hardware among various applications and users</a:t>
            </a:r>
          </a:p>
          <a:p>
            <a:pPr lvl="1"/>
            <a:r>
              <a:rPr lang="en-US" altLang="en-US" sz="2000"/>
              <a:t>Application programs – define the ways in which the system resources are used to solve the computing problems of the users</a:t>
            </a:r>
          </a:p>
          <a:p>
            <a:pPr lvl="2"/>
            <a:r>
              <a:rPr lang="en-US" altLang="en-US" sz="2000"/>
              <a:t>Word processors, compilers, web browsers, database systems, video games</a:t>
            </a:r>
          </a:p>
          <a:p>
            <a:pPr lvl="1"/>
            <a:r>
              <a:rPr lang="en-US" altLang="en-US" sz="2000"/>
              <a:t>Users</a:t>
            </a:r>
          </a:p>
          <a:p>
            <a:pPr lvl="2"/>
            <a:r>
              <a:rPr lang="en-US" altLang="en-US" sz="2000"/>
              <a:t>People, machines, other computers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C9D7FEA-83CE-3097-69ED-2DBF7034A2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3613" y="19843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What is an Operating System?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CD152E-DB41-C629-ED4C-8BC29127150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25513" y="1268413"/>
            <a:ext cx="7243762" cy="4159250"/>
          </a:xfrm>
        </p:spPr>
        <p:txBody>
          <a:bodyPr/>
          <a:lstStyle/>
          <a:p>
            <a:r>
              <a:rPr lang="en-US" altLang="en-US" sz="2200"/>
              <a:t>A program that acts as an intermediary between a user of a computer and the computer hardware</a:t>
            </a:r>
          </a:p>
          <a:p>
            <a:r>
              <a:rPr lang="en-US" altLang="en-US" sz="2200"/>
              <a:t>Operating system goals:</a:t>
            </a:r>
          </a:p>
          <a:p>
            <a:pPr lvl="1"/>
            <a:r>
              <a:rPr lang="en-US" altLang="en-US" sz="2200"/>
              <a:t>Execute user programs and make solving user problems easier</a:t>
            </a:r>
          </a:p>
          <a:p>
            <a:pPr lvl="1"/>
            <a:r>
              <a:rPr lang="en-US" altLang="en-US" sz="2200"/>
              <a:t>Make the computer system convenient to use</a:t>
            </a:r>
          </a:p>
          <a:p>
            <a:pPr lvl="1"/>
            <a:r>
              <a:rPr lang="en-US" altLang="en-US" sz="2200"/>
              <a:t>Use the computer hardware in an efficient manner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CDB1342-C1F8-29B5-6EA8-54851583AF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r>
              <a:rPr lang="en-US" altLang="en-US"/>
              <a:t>What Operating Systems Do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0808687C-B240-7AD0-FDCC-26F05E0961D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06450" y="1233488"/>
            <a:ext cx="7880350" cy="45307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  <a:defRPr/>
            </a:pPr>
            <a:r>
              <a:rPr lang="en-US" altLang="en-US" sz="2200" b="1" dirty="0">
                <a:solidFill>
                  <a:srgbClr val="FF0000"/>
                </a:solidFill>
              </a:rPr>
              <a:t>Users view</a:t>
            </a:r>
          </a:p>
          <a:p>
            <a:pPr marL="0" indent="0">
              <a:defRPr/>
            </a:pPr>
            <a:r>
              <a:rPr lang="en-US" altLang="en-US" sz="2200" dirty="0"/>
              <a:t>Users want convenience, </a:t>
            </a:r>
            <a:r>
              <a:rPr lang="en-US" altLang="en-US" sz="2200" b="1" dirty="0">
                <a:solidFill>
                  <a:srgbClr val="3366FF"/>
                </a:solidFill>
              </a:rPr>
              <a:t>ease</a:t>
            </a:r>
            <a:r>
              <a:rPr lang="en-US" altLang="en-US" sz="2200" dirty="0">
                <a:solidFill>
                  <a:srgbClr val="3366FF"/>
                </a:solidFill>
              </a:rPr>
              <a:t> </a:t>
            </a:r>
            <a:r>
              <a:rPr lang="en-US" altLang="en-US" sz="2200" b="1" dirty="0">
                <a:solidFill>
                  <a:srgbClr val="3366FF"/>
                </a:solidFill>
              </a:rPr>
              <a:t>of</a:t>
            </a:r>
            <a:r>
              <a:rPr lang="en-US" altLang="en-US" sz="2200" dirty="0">
                <a:solidFill>
                  <a:srgbClr val="3366FF"/>
                </a:solidFill>
              </a:rPr>
              <a:t> </a:t>
            </a:r>
            <a:r>
              <a:rPr lang="en-US" altLang="en-US" sz="2200" b="1" dirty="0">
                <a:solidFill>
                  <a:srgbClr val="3366FF"/>
                </a:solidFill>
              </a:rPr>
              <a:t>use </a:t>
            </a:r>
            <a:r>
              <a:rPr lang="en-US" altLang="en-US" sz="2200" dirty="0"/>
              <a:t>and</a:t>
            </a:r>
            <a:r>
              <a:rPr lang="en-US" altLang="en-US" sz="2200" b="1" dirty="0">
                <a:solidFill>
                  <a:srgbClr val="3366FF"/>
                </a:solidFill>
              </a:rPr>
              <a:t> good performance </a:t>
            </a:r>
          </a:p>
          <a:p>
            <a:pPr lvl="1">
              <a:defRPr/>
            </a:pPr>
            <a:r>
              <a:rPr lang="en-US" altLang="en-US" sz="2200" dirty="0"/>
              <a:t>Don</a:t>
            </a:r>
            <a:r>
              <a:rPr lang="ja-JP" altLang="en-US" sz="2200" dirty="0"/>
              <a:t>’</a:t>
            </a:r>
            <a:r>
              <a:rPr lang="en-US" altLang="ja-JP" sz="2200" dirty="0"/>
              <a:t>t care about </a:t>
            </a:r>
            <a:r>
              <a:rPr lang="en-US" altLang="ja-JP" sz="2200" b="1" dirty="0">
                <a:solidFill>
                  <a:srgbClr val="3366FF"/>
                </a:solidFill>
              </a:rPr>
              <a:t>resource</a:t>
            </a:r>
            <a:r>
              <a:rPr lang="en-US" altLang="ja-JP" sz="2200" dirty="0">
                <a:solidFill>
                  <a:srgbClr val="3366FF"/>
                </a:solidFill>
              </a:rPr>
              <a:t> </a:t>
            </a:r>
            <a:r>
              <a:rPr lang="en-US" altLang="ja-JP" sz="2200" b="1" dirty="0">
                <a:solidFill>
                  <a:srgbClr val="3366FF"/>
                </a:solidFill>
              </a:rPr>
              <a:t>utilization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altLang="en-US" sz="2200" b="1" dirty="0">
                <a:solidFill>
                  <a:srgbClr val="FF0000"/>
                </a:solidFill>
              </a:rPr>
              <a:t>System view</a:t>
            </a:r>
            <a:endParaRPr lang="en-US" altLang="en-US" sz="2200" dirty="0"/>
          </a:p>
          <a:p>
            <a:pPr>
              <a:defRPr/>
            </a:pPr>
            <a:r>
              <a:rPr lang="en-US" altLang="en-US" sz="2200" dirty="0"/>
              <a:t>OS is a </a:t>
            </a:r>
            <a:r>
              <a:rPr lang="en-US" altLang="en-US" sz="2200" b="1" dirty="0">
                <a:solidFill>
                  <a:srgbClr val="3366FF"/>
                </a:solidFill>
              </a:rPr>
              <a:t>resource allocator</a:t>
            </a:r>
          </a:p>
          <a:p>
            <a:pPr lvl="1">
              <a:defRPr/>
            </a:pPr>
            <a:r>
              <a:rPr lang="en-US" altLang="en-US" sz="2200" dirty="0"/>
              <a:t>Manages all resources</a:t>
            </a:r>
          </a:p>
          <a:p>
            <a:pPr lvl="1">
              <a:defRPr/>
            </a:pPr>
            <a:r>
              <a:rPr lang="en-US" altLang="en-US" sz="2200" dirty="0"/>
              <a:t>Decides between conflicting requests for efficient and fair resource use</a:t>
            </a:r>
          </a:p>
          <a:p>
            <a:pPr>
              <a:defRPr/>
            </a:pPr>
            <a:r>
              <a:rPr lang="en-US" altLang="en-US" sz="2200" dirty="0"/>
              <a:t>OS is a </a:t>
            </a:r>
            <a:r>
              <a:rPr lang="en-US" altLang="en-US" sz="2200" b="1" dirty="0">
                <a:solidFill>
                  <a:srgbClr val="3366FF"/>
                </a:solidFill>
              </a:rPr>
              <a:t>control program</a:t>
            </a:r>
          </a:p>
          <a:p>
            <a:pPr lvl="1">
              <a:defRPr/>
            </a:pPr>
            <a:r>
              <a:rPr lang="en-US" altLang="en-US" sz="2200" dirty="0"/>
              <a:t>Controls execution of programs to prevent errors and improper use of the computer</a:t>
            </a:r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ja-JP" sz="2000" b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E04B816-D671-22B4-0801-161A32A7E9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8024812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Definition (Cont.)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18F8789-132D-2AB1-A458-1FC8588496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3763" y="1247775"/>
            <a:ext cx="7561262" cy="4545013"/>
          </a:xfrm>
        </p:spPr>
        <p:txBody>
          <a:bodyPr/>
          <a:lstStyle/>
          <a:p>
            <a:r>
              <a:rPr lang="en-US" altLang="en-US" sz="2200"/>
              <a:t>No universally accepted definition</a:t>
            </a:r>
          </a:p>
          <a:p>
            <a:r>
              <a:rPr lang="ja-JP" altLang="en-US" sz="2200"/>
              <a:t>“</a:t>
            </a:r>
            <a:r>
              <a:rPr lang="en-US" altLang="ja-JP" sz="2200"/>
              <a:t>Everything a vendor ships when you order an operating system</a:t>
            </a:r>
            <a:r>
              <a:rPr lang="ja-JP" altLang="en-US" sz="2200"/>
              <a:t>”</a:t>
            </a:r>
            <a:r>
              <a:rPr lang="en-US" altLang="ja-JP" sz="2200"/>
              <a:t> is a good approximation</a:t>
            </a:r>
          </a:p>
          <a:p>
            <a:pPr lvl="1"/>
            <a:r>
              <a:rPr lang="en-US" altLang="en-US" sz="2200"/>
              <a:t>But varies wildly</a:t>
            </a:r>
          </a:p>
          <a:p>
            <a:r>
              <a:rPr lang="ja-JP" altLang="en-US" sz="2200"/>
              <a:t>“</a:t>
            </a:r>
            <a:r>
              <a:rPr lang="en-US" altLang="ja-JP" sz="2200"/>
              <a:t>The one program running at all times on the computer</a:t>
            </a:r>
            <a:r>
              <a:rPr lang="ja-JP" altLang="en-US" sz="2200"/>
              <a:t>”</a:t>
            </a:r>
            <a:r>
              <a:rPr lang="en-US" altLang="ja-JP" sz="2200"/>
              <a:t> is the </a:t>
            </a:r>
            <a:r>
              <a:rPr lang="en-US" altLang="ja-JP" sz="2200" b="1">
                <a:solidFill>
                  <a:srgbClr val="3366FF"/>
                </a:solidFill>
              </a:rPr>
              <a:t>kernel</a:t>
            </a:r>
            <a:r>
              <a:rPr lang="en-US" altLang="ja-JP" sz="2200"/>
              <a:t>.</a:t>
            </a:r>
            <a:r>
              <a:rPr lang="en-US" altLang="ja-JP" sz="2200" b="1"/>
              <a:t>  </a:t>
            </a:r>
            <a:endParaRPr lang="en-US" altLang="ja-JP" sz="2200"/>
          </a:p>
          <a:p>
            <a:r>
              <a:rPr lang="en-US" altLang="ja-JP" sz="2200"/>
              <a:t>Everything else is either</a:t>
            </a:r>
          </a:p>
          <a:p>
            <a:pPr lvl="1"/>
            <a:r>
              <a:rPr lang="en-US" altLang="ja-JP" sz="2200"/>
              <a:t>a system program (ships with the operating system) , </a:t>
            </a:r>
            <a:r>
              <a:rPr lang="en-US" altLang="ja-JP" sz="2200">
                <a:solidFill>
                  <a:srgbClr val="FF0000"/>
                </a:solidFill>
              </a:rPr>
              <a:t>or</a:t>
            </a:r>
          </a:p>
          <a:p>
            <a:pPr lvl="1"/>
            <a:r>
              <a:rPr lang="en-US" altLang="ja-JP" sz="2200"/>
              <a:t>an application program.</a:t>
            </a:r>
            <a:endParaRPr lang="en-US" altLang="en-US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1E770C0-3286-B96D-6827-D910970866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Startup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FC3B553-7F02-3EF9-A347-F0BCBCACC1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378700" cy="4530725"/>
          </a:xfrm>
        </p:spPr>
        <p:txBody>
          <a:bodyPr/>
          <a:lstStyle/>
          <a:p>
            <a:r>
              <a:rPr lang="en-US" altLang="en-US" sz="2200" b="1">
                <a:solidFill>
                  <a:srgbClr val="3366FF"/>
                </a:solidFill>
              </a:rPr>
              <a:t>bootstrap program</a:t>
            </a:r>
            <a:r>
              <a:rPr lang="en-US" altLang="en-US" sz="2200">
                <a:solidFill>
                  <a:srgbClr val="3366FF"/>
                </a:solidFill>
              </a:rPr>
              <a:t> </a:t>
            </a:r>
            <a:r>
              <a:rPr lang="en-US" altLang="en-US" sz="2200"/>
              <a:t>is loaded at power-up or reboot</a:t>
            </a:r>
          </a:p>
          <a:p>
            <a:pPr lvl="1"/>
            <a:r>
              <a:rPr lang="en-US" altLang="en-US" sz="2200"/>
              <a:t>Typically stored in ROM or EPROM, generally known as </a:t>
            </a:r>
            <a:r>
              <a:rPr lang="en-US" altLang="en-US" sz="2200" b="1">
                <a:solidFill>
                  <a:srgbClr val="3366FF"/>
                </a:solidFill>
              </a:rPr>
              <a:t>firmware</a:t>
            </a:r>
          </a:p>
          <a:p>
            <a:pPr lvl="1"/>
            <a:r>
              <a:rPr lang="en-US" altLang="en-US" sz="2200"/>
              <a:t>Initializes all aspects of system</a:t>
            </a:r>
          </a:p>
          <a:p>
            <a:pPr lvl="1"/>
            <a:r>
              <a:rPr lang="en-US" altLang="en-US" sz="2200"/>
              <a:t>Loads operating system kernel and starts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C1348ED-F114-DAF7-7474-749E534ECA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Organization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971D2D8-37CC-3A7E-DB03-989136D0BD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15975" y="1233488"/>
            <a:ext cx="7697788" cy="4530725"/>
          </a:xfrm>
        </p:spPr>
        <p:txBody>
          <a:bodyPr/>
          <a:lstStyle/>
          <a:p>
            <a:r>
              <a:rPr lang="en-US" altLang="en-US" sz="2200"/>
              <a:t>Computer-system operation</a:t>
            </a:r>
          </a:p>
          <a:p>
            <a:pPr lvl="1"/>
            <a:r>
              <a:rPr lang="en-US" altLang="en-US" sz="2200"/>
              <a:t>One or more CPUs, device controllers connect through common bus providing access to shared memory</a:t>
            </a:r>
          </a:p>
          <a:p>
            <a:pPr lvl="1"/>
            <a:r>
              <a:rPr lang="en-US" altLang="en-US" sz="2200"/>
              <a:t>Concurrent execution of CPUs and devices competing for memory cycles</a:t>
            </a:r>
          </a:p>
          <a:p>
            <a:pPr lvl="1"/>
            <a:endParaRPr lang="en-US" altLang="en-US" sz="2200"/>
          </a:p>
        </p:txBody>
      </p:sp>
      <p:pic>
        <p:nvPicPr>
          <p:cNvPr id="12292" name="Picture 5">
            <a:extLst>
              <a:ext uri="{FF2B5EF4-FFF2-40B4-BE49-F238E27FC236}">
                <a16:creationId xmlns:a16="http://schemas.microsoft.com/office/drawing/2014/main" id="{EC6953EC-18E9-9B33-FC66-AC339B36F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3608388"/>
            <a:ext cx="6059487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0B0022A-5219-A48B-4578-15AB2AFFC8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Computer-System Operation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C3D8521-77F9-7A38-301B-41E27FE9AC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57225" y="1233488"/>
            <a:ext cx="8229600" cy="4530725"/>
          </a:xfrm>
        </p:spPr>
        <p:txBody>
          <a:bodyPr/>
          <a:lstStyle/>
          <a:p>
            <a:r>
              <a:rPr lang="en-US" altLang="en-US" sz="2200"/>
              <a:t>I/O devices and the CPU can execute concurrently</a:t>
            </a:r>
          </a:p>
          <a:p>
            <a:r>
              <a:rPr lang="en-US" altLang="en-US" sz="2200"/>
              <a:t>Each device controller is in charge of a particular device type</a:t>
            </a:r>
          </a:p>
          <a:p>
            <a:r>
              <a:rPr lang="en-US" altLang="en-US" sz="2200"/>
              <a:t>Each device controller has a local buffer</a:t>
            </a:r>
          </a:p>
          <a:p>
            <a:r>
              <a:rPr lang="en-US" altLang="en-US" sz="2200"/>
              <a:t>CPU moves data from/to main memory to/from local buffers</a:t>
            </a:r>
          </a:p>
          <a:p>
            <a:r>
              <a:rPr lang="en-US" altLang="en-US" sz="2200"/>
              <a:t>I/O is from the device to local buffer of controller</a:t>
            </a:r>
          </a:p>
          <a:p>
            <a:r>
              <a:rPr lang="en-US" altLang="en-US" sz="2200"/>
              <a:t>Device controller informs CPU that it has finished its operation by causing an </a:t>
            </a:r>
            <a:r>
              <a:rPr lang="en-US" altLang="en-US" sz="2200">
                <a:solidFill>
                  <a:srgbClr val="0000FF"/>
                </a:solidFill>
              </a:rPr>
              <a:t>interrupt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8EF18CE-0678-DA1E-DF50-F06D18F75D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615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Common Functions of Interrupts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0AE0AE4-45DC-D4AB-D2E4-AD1B9CB425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437438" cy="4530725"/>
          </a:xfrm>
        </p:spPr>
        <p:txBody>
          <a:bodyPr/>
          <a:lstStyle/>
          <a:p>
            <a:r>
              <a:rPr lang="en-US" altLang="en-US" sz="2200"/>
              <a:t>Interrupt transfers control to the interrupt service routine generally, through the </a:t>
            </a:r>
            <a:r>
              <a:rPr lang="en-US" altLang="en-US" sz="2200" b="1">
                <a:solidFill>
                  <a:srgbClr val="3366FF"/>
                </a:solidFill>
              </a:rPr>
              <a:t>interrupt</a:t>
            </a:r>
            <a:r>
              <a:rPr lang="en-US" altLang="en-US" sz="2200" i="1"/>
              <a:t> </a:t>
            </a:r>
            <a:r>
              <a:rPr lang="en-US" altLang="en-US" sz="2200" b="1">
                <a:solidFill>
                  <a:srgbClr val="3366FF"/>
                </a:solidFill>
              </a:rPr>
              <a:t>vector</a:t>
            </a:r>
            <a:r>
              <a:rPr lang="en-US" altLang="en-US" sz="2200"/>
              <a:t>, which contains the addresses of all the service routines</a:t>
            </a:r>
          </a:p>
          <a:p>
            <a:r>
              <a:rPr lang="en-US" altLang="en-US" sz="2200"/>
              <a:t>Interrupt architecture must save the address of the interrupted instruction</a:t>
            </a:r>
            <a:endParaRPr lang="en-US" altLang="en-US" sz="2200" i="1"/>
          </a:p>
          <a:p>
            <a:r>
              <a:rPr lang="en-US" altLang="en-US" sz="2200"/>
              <a:t>A </a:t>
            </a:r>
            <a:r>
              <a:rPr lang="en-US" altLang="en-US" sz="2200" b="1">
                <a:solidFill>
                  <a:srgbClr val="3366FF"/>
                </a:solidFill>
              </a:rPr>
              <a:t>trap</a:t>
            </a:r>
            <a:r>
              <a:rPr lang="en-US" altLang="en-US" sz="2200"/>
              <a:t> or </a:t>
            </a:r>
            <a:r>
              <a:rPr lang="en-US" altLang="en-US" sz="2200" b="1">
                <a:solidFill>
                  <a:srgbClr val="3366FF"/>
                </a:solidFill>
              </a:rPr>
              <a:t>exception</a:t>
            </a:r>
            <a:r>
              <a:rPr lang="en-US" altLang="en-US" sz="2200"/>
              <a:t> is a software-generated interrupt caused either by an error or a user request</a:t>
            </a:r>
          </a:p>
          <a:p>
            <a:r>
              <a:rPr lang="en-US" altLang="en-US" sz="2200"/>
              <a:t>An operating system is </a:t>
            </a:r>
            <a:r>
              <a:rPr lang="en-US" altLang="en-US" sz="2200" b="1">
                <a:solidFill>
                  <a:srgbClr val="3366FF"/>
                </a:solidFill>
              </a:rPr>
              <a:t>interrupt driven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E29DAD7-8E78-E299-447B-0166CE4DBB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I/O Structure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F9DE64D-DFD1-8192-9E32-7DEE5C837AA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5350" y="1244600"/>
            <a:ext cx="7469188" cy="4583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After I/O starts, control returns to user program only upon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Wait instruction idles the CPU until the next interrupt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Wait loop (contention for memory access)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At most one I/O request is outstanding at a time, no simultaneous I/O processing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After I/O starts, control returns to user program without waiting for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3366FF"/>
                </a:solidFill>
              </a:rPr>
              <a:t>System call </a:t>
            </a:r>
            <a:r>
              <a:rPr lang="en-US" altLang="en-US" sz="2000"/>
              <a:t>– request to the OS to allow user to wait for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3366FF"/>
                </a:solidFill>
              </a:rPr>
              <a:t>Device-status table </a:t>
            </a:r>
            <a:r>
              <a:rPr lang="en-US" altLang="en-US" sz="2000"/>
              <a:t>contains entry for each I/O device indicating its type, address, and state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OS indexes into I/O device table to determine device status and to modify table entry to include interrupt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3">
            <a:extLst>
              <a:ext uri="{FF2B5EF4-FFF2-40B4-BE49-F238E27FC236}">
                <a16:creationId xmlns:a16="http://schemas.microsoft.com/office/drawing/2014/main" id="{C6E6D9C5-5DBD-D411-191B-C34E6F5C8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7463" y="277813"/>
            <a:ext cx="7399337" cy="576262"/>
          </a:xfrm>
        </p:spPr>
        <p:txBody>
          <a:bodyPr/>
          <a:lstStyle/>
          <a:p>
            <a:r>
              <a:rPr lang="en-US" altLang="en-US" sz="2800"/>
              <a:t>Storage Definitions and Notation Review</a:t>
            </a:r>
          </a:p>
        </p:txBody>
      </p:sp>
      <p:sp>
        <p:nvSpPr>
          <p:cNvPr id="16387" name="Rectangle 5">
            <a:extLst>
              <a:ext uri="{FF2B5EF4-FFF2-40B4-BE49-F238E27FC236}">
                <a16:creationId xmlns:a16="http://schemas.microsoft.com/office/drawing/2014/main" id="{67F0F090-4386-3480-7FEF-550BDB15B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1177925"/>
            <a:ext cx="7440612" cy="51911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/>
              <a:t>The basic unit of computer storage is the </a:t>
            </a:r>
            <a:r>
              <a:rPr lang="en-US" altLang="en-US" sz="1400" b="1"/>
              <a:t>bit</a:t>
            </a:r>
            <a:r>
              <a:rPr lang="en-US" altLang="en-US" sz="1400"/>
              <a:t>. A bit can contain one of two values, 0 and 1. All other storage in a computer is based on collections of bits. Given enough bits, it is amazing how many things a computer can represent: numbers, letters, images, movies, sounds, documents, and programs, to name a few. A </a:t>
            </a:r>
            <a:r>
              <a:rPr lang="en-US" altLang="en-US" sz="1400" b="1"/>
              <a:t>byte </a:t>
            </a:r>
            <a:r>
              <a:rPr lang="en-US" altLang="en-US" sz="1400"/>
              <a:t>is 8 bits, and on most computers it is the smallest convenient chunk of storage. For example, most computers don’t have an instruction to move a bit but do have one to move a byte. A less common term is </a:t>
            </a:r>
            <a:r>
              <a:rPr lang="en-US" altLang="en-US" sz="1400" b="1"/>
              <a:t>word</a:t>
            </a:r>
            <a:r>
              <a:rPr lang="en-US" altLang="en-US" sz="1400"/>
              <a:t>, which is a given computer architecture’s native unit of data. A word is made up of one or more bytes. For example, a computer that has 64-bit registers and 64-bit memory addressing typically has 64-bit (8-byte) words. A computer executes many operations in its native word size rather than a byte at a time.</a:t>
            </a:r>
          </a:p>
          <a:p>
            <a:endParaRPr lang="en-US" altLang="en-US" sz="1400" baseline="-25000"/>
          </a:p>
          <a:p>
            <a:r>
              <a:rPr lang="en-US" altLang="en-US" sz="1400"/>
              <a:t>Computer storage, along with most computer throughput, is generally measured and manipulated in bytes and collections of bytes. </a:t>
            </a:r>
          </a:p>
          <a:p>
            <a:r>
              <a:rPr lang="en-US" altLang="en-US" sz="1400"/>
              <a:t>A </a:t>
            </a:r>
            <a:r>
              <a:rPr lang="en-US" altLang="en-US" sz="1400" b="1"/>
              <a:t>kilobyte</a:t>
            </a:r>
            <a:r>
              <a:rPr lang="en-US" altLang="en-US" sz="1400"/>
              <a:t>, or </a:t>
            </a:r>
            <a:r>
              <a:rPr lang="en-US" altLang="en-US" sz="1400" b="1"/>
              <a:t>KB</a:t>
            </a:r>
            <a:r>
              <a:rPr lang="en-US" altLang="en-US" sz="1400"/>
              <a:t>, is 1,024 bytes</a:t>
            </a:r>
          </a:p>
          <a:p>
            <a:r>
              <a:rPr lang="en-US" altLang="en-US" sz="1400"/>
              <a:t>a </a:t>
            </a:r>
            <a:r>
              <a:rPr lang="en-US" altLang="en-US" sz="1400" b="1"/>
              <a:t>megabyte</a:t>
            </a:r>
            <a:r>
              <a:rPr lang="en-US" altLang="en-US" sz="1400"/>
              <a:t>, or </a:t>
            </a:r>
            <a:r>
              <a:rPr lang="en-US" altLang="en-US" sz="1400" b="1"/>
              <a:t>MB</a:t>
            </a:r>
            <a:r>
              <a:rPr lang="en-US" altLang="en-US" sz="1400"/>
              <a:t>, is 1,024</a:t>
            </a:r>
            <a:r>
              <a:rPr lang="en-US" altLang="en-US" sz="1400" baseline="30000"/>
              <a:t>2</a:t>
            </a:r>
            <a:r>
              <a:rPr lang="en-US" altLang="en-US" sz="1400"/>
              <a:t> bytes</a:t>
            </a:r>
          </a:p>
          <a:p>
            <a:r>
              <a:rPr lang="en-US" altLang="en-US" sz="1400"/>
              <a:t>a </a:t>
            </a:r>
            <a:r>
              <a:rPr lang="en-US" altLang="en-US" sz="1400" b="1"/>
              <a:t>gigabyte</a:t>
            </a:r>
            <a:r>
              <a:rPr lang="en-US" altLang="en-US" sz="1400"/>
              <a:t>, or </a:t>
            </a:r>
            <a:r>
              <a:rPr lang="en-US" altLang="en-US" sz="1400" b="1"/>
              <a:t>GB</a:t>
            </a:r>
            <a:r>
              <a:rPr lang="en-US" altLang="en-US" sz="1400"/>
              <a:t>, is 1,024</a:t>
            </a:r>
            <a:r>
              <a:rPr lang="en-US" altLang="en-US" sz="1400" baseline="30000"/>
              <a:t>3</a:t>
            </a:r>
            <a:r>
              <a:rPr lang="en-US" altLang="en-US" sz="1400"/>
              <a:t> bytes</a:t>
            </a:r>
          </a:p>
          <a:p>
            <a:r>
              <a:rPr lang="en-US" altLang="en-US" sz="1400"/>
              <a:t>a </a:t>
            </a:r>
            <a:r>
              <a:rPr lang="en-US" altLang="en-US" sz="1400" b="1"/>
              <a:t>terabyte</a:t>
            </a:r>
            <a:r>
              <a:rPr lang="en-US" altLang="en-US" sz="1400"/>
              <a:t>, or </a:t>
            </a:r>
            <a:r>
              <a:rPr lang="en-US" altLang="en-US" sz="1400" b="1"/>
              <a:t>TB</a:t>
            </a:r>
            <a:r>
              <a:rPr lang="en-US" altLang="en-US" sz="1400"/>
              <a:t>, is 1,024</a:t>
            </a:r>
            <a:r>
              <a:rPr lang="en-US" altLang="en-US" sz="1400" baseline="30000"/>
              <a:t>4 </a:t>
            </a:r>
            <a:r>
              <a:rPr lang="en-US" altLang="en-US" sz="1400"/>
              <a:t>bytes </a:t>
            </a:r>
          </a:p>
          <a:p>
            <a:r>
              <a:rPr lang="en-US" altLang="en-US" sz="1400"/>
              <a:t>a </a:t>
            </a:r>
            <a:r>
              <a:rPr lang="en-US" altLang="en-US" sz="1400" b="1"/>
              <a:t>petabyte</a:t>
            </a:r>
            <a:r>
              <a:rPr lang="en-US" altLang="en-US" sz="1400"/>
              <a:t>, or </a:t>
            </a:r>
            <a:r>
              <a:rPr lang="en-US" altLang="en-US" sz="1400" b="1"/>
              <a:t>PB</a:t>
            </a:r>
            <a:r>
              <a:rPr lang="en-US" altLang="en-US" sz="1400"/>
              <a:t>, is 1,024</a:t>
            </a:r>
            <a:r>
              <a:rPr lang="en-US" altLang="en-US" sz="1400" baseline="30000"/>
              <a:t>5</a:t>
            </a:r>
            <a:r>
              <a:rPr lang="en-US" altLang="en-US" sz="1400"/>
              <a:t> bytes</a:t>
            </a:r>
          </a:p>
          <a:p>
            <a:endParaRPr lang="en-US" altLang="en-US" sz="1400"/>
          </a:p>
          <a:p>
            <a:r>
              <a:rPr lang="en-US" altLang="en-US" sz="1400"/>
              <a:t>Computer manufacturers often round off these numbers and say that a megabyte is 1 million bytes and a gigabyte is 1 billion bytes. Networking measurements are an exception to this general rule; they are given in bits (because networks move data a bit at a time).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54102BC-D36C-0817-C07A-4762A42791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Structure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09F1C92-F500-64E1-B1E1-7842B0CA9A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138238"/>
            <a:ext cx="7612063" cy="4805362"/>
          </a:xfrm>
        </p:spPr>
        <p:txBody>
          <a:bodyPr/>
          <a:lstStyle/>
          <a:p>
            <a:r>
              <a:rPr lang="en-US" altLang="en-US"/>
              <a:t>Main memory – only large storage media that the CPU can access directly</a:t>
            </a:r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Random</a:t>
            </a:r>
            <a:r>
              <a:rPr lang="en-US" altLang="en-US" sz="1600">
                <a:solidFill>
                  <a:srgbClr val="0000FF"/>
                </a:solidFill>
              </a:rPr>
              <a:t> </a:t>
            </a:r>
            <a:r>
              <a:rPr lang="en-US" altLang="en-US" sz="1600" b="1">
                <a:solidFill>
                  <a:srgbClr val="3366FF"/>
                </a:solidFill>
              </a:rPr>
              <a:t>access</a:t>
            </a:r>
          </a:p>
          <a:p>
            <a:pPr lvl="1"/>
            <a:r>
              <a:rPr lang="en-US" altLang="en-US" sz="1600"/>
              <a:t>Typically </a:t>
            </a:r>
            <a:r>
              <a:rPr lang="en-US" altLang="en-US" sz="1600" b="1">
                <a:solidFill>
                  <a:srgbClr val="3366FF"/>
                </a:solidFill>
              </a:rPr>
              <a:t>volatile</a:t>
            </a:r>
          </a:p>
          <a:p>
            <a:r>
              <a:rPr lang="en-US" altLang="en-US"/>
              <a:t>Secondary storage – extension of main memory that provides large </a:t>
            </a:r>
            <a:r>
              <a:rPr lang="en-US" altLang="en-US" b="1">
                <a:solidFill>
                  <a:srgbClr val="3366FF"/>
                </a:solidFill>
              </a:rPr>
              <a:t>nonvolatile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/>
              <a:t>storage capacity</a:t>
            </a:r>
          </a:p>
          <a:p>
            <a:r>
              <a:rPr lang="en-US" altLang="en-US"/>
              <a:t>Hard disks – rigid metal or glass platters covered with magnetic recording material </a:t>
            </a:r>
          </a:p>
          <a:p>
            <a:pPr lvl="1"/>
            <a:r>
              <a:rPr lang="en-US" altLang="en-US" sz="1600"/>
              <a:t>Disk surface is logically divided into </a:t>
            </a:r>
            <a:r>
              <a:rPr lang="en-US" altLang="en-US" sz="1600" b="1">
                <a:solidFill>
                  <a:srgbClr val="3366FF"/>
                </a:solidFill>
              </a:rPr>
              <a:t>tracks</a:t>
            </a:r>
            <a:r>
              <a:rPr lang="en-US" altLang="en-US" sz="1600"/>
              <a:t>, which are subdivided into </a:t>
            </a:r>
            <a:r>
              <a:rPr lang="en-US" altLang="en-US" sz="1600" b="1">
                <a:solidFill>
                  <a:srgbClr val="3366FF"/>
                </a:solidFill>
              </a:rPr>
              <a:t>sectors</a:t>
            </a:r>
          </a:p>
          <a:p>
            <a:pPr lvl="1"/>
            <a:r>
              <a:rPr lang="en-US" altLang="en-US" sz="1600"/>
              <a:t>The </a:t>
            </a:r>
            <a:r>
              <a:rPr lang="en-US" altLang="en-US" sz="1600" b="1">
                <a:solidFill>
                  <a:srgbClr val="3366FF"/>
                </a:solidFill>
              </a:rPr>
              <a:t>disk controller </a:t>
            </a:r>
            <a:r>
              <a:rPr lang="en-US" altLang="en-US" sz="1600"/>
              <a:t>determines the logical interaction between the device and the computer 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Solid-state disks </a:t>
            </a:r>
            <a:r>
              <a:rPr lang="en-US" altLang="en-US"/>
              <a:t>– faster than hard disks, nonvolatile</a:t>
            </a:r>
          </a:p>
          <a:p>
            <a:pPr lvl="1"/>
            <a:r>
              <a:rPr lang="en-US" altLang="en-US" sz="1600"/>
              <a:t>Various technologies</a:t>
            </a:r>
          </a:p>
          <a:p>
            <a:pPr lvl="1"/>
            <a:r>
              <a:rPr lang="en-US" altLang="en-US" sz="1600"/>
              <a:t>Becoming more popular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91ADD05-E99C-A9CE-EB04-B6F8D1E1F2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18256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Hierarchy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5CE1891-11F6-E2FC-CBC9-C3DBA48B7F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378700" cy="4530725"/>
          </a:xfrm>
        </p:spPr>
        <p:txBody>
          <a:bodyPr/>
          <a:lstStyle/>
          <a:p>
            <a:r>
              <a:rPr lang="en-US" altLang="en-US" sz="2200"/>
              <a:t>Storage systems organized in hierarchy</a:t>
            </a:r>
          </a:p>
          <a:p>
            <a:pPr lvl="1"/>
            <a:r>
              <a:rPr lang="en-US" altLang="en-US" sz="2200"/>
              <a:t>Speed</a:t>
            </a:r>
          </a:p>
          <a:p>
            <a:pPr lvl="1"/>
            <a:r>
              <a:rPr lang="en-US" altLang="en-US" sz="2200"/>
              <a:t>Cost</a:t>
            </a:r>
          </a:p>
          <a:p>
            <a:pPr lvl="1"/>
            <a:r>
              <a:rPr lang="en-US" altLang="en-US" sz="2200"/>
              <a:t>Volatility</a:t>
            </a:r>
          </a:p>
          <a:p>
            <a:r>
              <a:rPr lang="en-US" altLang="en-US" sz="2200" b="1">
                <a:solidFill>
                  <a:srgbClr val="3366FF"/>
                </a:solidFill>
              </a:rPr>
              <a:t>Caching</a:t>
            </a:r>
            <a:r>
              <a:rPr lang="en-US" altLang="en-US" sz="2200"/>
              <a:t> – copying information into faster storage system; main memory can be viewed as a cache for secondary storage</a:t>
            </a:r>
          </a:p>
          <a:p>
            <a:r>
              <a:rPr lang="en-US" altLang="en-US" sz="2200" b="1">
                <a:solidFill>
                  <a:srgbClr val="3366FF"/>
                </a:solidFill>
              </a:rPr>
              <a:t>Device Driver </a:t>
            </a:r>
            <a:r>
              <a:rPr lang="en-US" altLang="en-US" sz="2200"/>
              <a:t>for each device controller to manage I/O</a:t>
            </a:r>
          </a:p>
          <a:p>
            <a:pPr lvl="1"/>
            <a:r>
              <a:rPr lang="en-US" altLang="en-US" sz="2200"/>
              <a:t>Provides uniform interface between controller and kernel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FAE082E-C697-1E28-754D-B8B15FAF41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Storage-Device Hierarchy</a:t>
            </a:r>
          </a:p>
        </p:txBody>
      </p:sp>
      <p:pic>
        <p:nvPicPr>
          <p:cNvPr id="19459" name="Picture 3" descr="C:\Users\as668\Desktop\1_04.jpg">
            <a:extLst>
              <a:ext uri="{FF2B5EF4-FFF2-40B4-BE49-F238E27FC236}">
                <a16:creationId xmlns:a16="http://schemas.microsoft.com/office/drawing/2014/main" id="{2EB849EA-14E9-CFD4-164C-19C1C760C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370013"/>
            <a:ext cx="5322887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512ED61-9F16-6446-E9C3-0828ACE604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Caching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9407EF0-280A-3B86-4F61-FBBADCBA637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02538" cy="4910137"/>
          </a:xfrm>
        </p:spPr>
        <p:txBody>
          <a:bodyPr/>
          <a:lstStyle/>
          <a:p>
            <a:r>
              <a:rPr lang="en-US" altLang="en-US" sz="2000"/>
              <a:t>Important principle, performed at many levels in a computer (in hardware, operating system, software)</a:t>
            </a:r>
          </a:p>
          <a:p>
            <a:r>
              <a:rPr lang="en-US" altLang="en-US" sz="2000"/>
              <a:t>Information in use copied from slower to faster storage temporarily</a:t>
            </a:r>
          </a:p>
          <a:p>
            <a:r>
              <a:rPr lang="en-US" altLang="en-US" sz="2000"/>
              <a:t>Faster storage (cache) checked first to determine if information is there</a:t>
            </a:r>
          </a:p>
          <a:p>
            <a:pPr lvl="1"/>
            <a:r>
              <a:rPr lang="en-US" altLang="en-US" sz="2000"/>
              <a:t>If it is, information used directly from the cache (fast)</a:t>
            </a:r>
          </a:p>
          <a:p>
            <a:pPr lvl="1"/>
            <a:r>
              <a:rPr lang="en-US" altLang="en-US" sz="2000"/>
              <a:t>If not, data copied to cache and used there</a:t>
            </a:r>
          </a:p>
          <a:p>
            <a:r>
              <a:rPr lang="en-US" altLang="en-US" sz="2000"/>
              <a:t>Cache smaller than storage being cached</a:t>
            </a:r>
          </a:p>
          <a:p>
            <a:pPr lvl="1"/>
            <a:r>
              <a:rPr lang="en-US" altLang="en-US" sz="2000"/>
              <a:t>Cache management important design problem</a:t>
            </a:r>
          </a:p>
          <a:p>
            <a:pPr lvl="1"/>
            <a:r>
              <a:rPr lang="en-US" altLang="en-US" sz="2000"/>
              <a:t>Cache size and replacement policy</a:t>
            </a:r>
          </a:p>
          <a:p>
            <a:pPr>
              <a:buFont typeface="Monotype Sorts" pitchFamily="-84" charset="2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9BFD386B-A16D-4FC1-EC04-63CAA695FC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0138" y="198438"/>
            <a:ext cx="7586662" cy="576262"/>
          </a:xfrm>
        </p:spPr>
        <p:txBody>
          <a:bodyPr/>
          <a:lstStyle/>
          <a:p>
            <a:r>
              <a:rPr lang="en-US" altLang="en-US"/>
              <a:t>Computer-System Architecture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2BC09ACE-27ED-5858-E662-4395F186AD7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06450" y="1233488"/>
            <a:ext cx="8337550" cy="4867275"/>
          </a:xfrm>
        </p:spPr>
        <p:txBody>
          <a:bodyPr/>
          <a:lstStyle/>
          <a:p>
            <a:r>
              <a:rPr lang="en-US" altLang="en-US"/>
              <a:t>Most systems use a single general-purpose processor</a:t>
            </a:r>
          </a:p>
          <a:p>
            <a:pPr lvl="1"/>
            <a:r>
              <a:rPr lang="en-US" altLang="en-US"/>
              <a:t>Most systems have special-purpose processors as well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Multiprocessors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systems growing in use and importance</a:t>
            </a:r>
          </a:p>
          <a:p>
            <a:pPr lvl="1"/>
            <a:r>
              <a:rPr lang="en-US" altLang="en-US"/>
              <a:t>Also known as </a:t>
            </a:r>
            <a:r>
              <a:rPr lang="en-US" altLang="en-US" b="1">
                <a:solidFill>
                  <a:srgbClr val="3366FF"/>
                </a:solidFill>
              </a:rPr>
              <a:t>parallel systems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3366FF"/>
                </a:solidFill>
              </a:rPr>
              <a:t>tightly-coupled systems</a:t>
            </a:r>
          </a:p>
          <a:p>
            <a:pPr lvl="1"/>
            <a:r>
              <a:rPr lang="en-US" altLang="en-US"/>
              <a:t>Advantages include:</a:t>
            </a: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Increased throughput</a:t>
            </a: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Economy of scale</a:t>
            </a: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Increased reliability </a:t>
            </a:r>
            <a:r>
              <a:rPr lang="en-US" altLang="en-US"/>
              <a:t>– graceful degradation or fault tolerance</a:t>
            </a:r>
          </a:p>
          <a:p>
            <a:pPr lvl="1"/>
            <a:r>
              <a:rPr lang="en-US" altLang="en-US"/>
              <a:t>Two types:</a:t>
            </a: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Asymmetric Multiprocessing </a:t>
            </a:r>
            <a:r>
              <a:rPr lang="en-US" altLang="en-US"/>
              <a:t>– each processor is assigned a specie task.</a:t>
            </a: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Symmetric Multiprocessing </a:t>
            </a:r>
            <a:r>
              <a:rPr lang="en-US" altLang="en-US"/>
              <a:t>– each processor performs all tasks</a:t>
            </a:r>
          </a:p>
          <a:p>
            <a:pPr marL="1200150" lvl="2" indent="-342900">
              <a:buFont typeface="Webdings" panose="05030102010509060703" pitchFamily="18" charset="2"/>
              <a:buNone/>
            </a:pPr>
            <a:endParaRPr lang="en-US" altLang="en-US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EE549FF-6970-155C-4560-1432D3BDF2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9800" y="152400"/>
            <a:ext cx="8229600" cy="576263"/>
          </a:xfrm>
        </p:spPr>
        <p:txBody>
          <a:bodyPr/>
          <a:lstStyle/>
          <a:p>
            <a:r>
              <a:rPr lang="en-US" altLang="en-US" sz="2800"/>
              <a:t>Symmetric Multiprocessing Architecture</a:t>
            </a:r>
          </a:p>
        </p:txBody>
      </p:sp>
      <p:pic>
        <p:nvPicPr>
          <p:cNvPr id="22531" name="Picture 7" descr="1">
            <a:extLst>
              <a:ext uri="{FF2B5EF4-FFF2-40B4-BE49-F238E27FC236}">
                <a16:creationId xmlns:a16="http://schemas.microsoft.com/office/drawing/2014/main" id="{29DBCE37-140F-3B7D-3164-CD3DB7AFC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1760538"/>
            <a:ext cx="6319837" cy="303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E38692C-C546-0736-9B63-0FCD7AD04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r>
              <a:rPr lang="en-US" altLang="en-US"/>
              <a:t>A Dual-Core Design</a:t>
            </a:r>
          </a:p>
        </p:txBody>
      </p:sp>
      <p:sp>
        <p:nvSpPr>
          <p:cNvPr id="23555" name="Content Placeholder 1">
            <a:extLst>
              <a:ext uri="{FF2B5EF4-FFF2-40B4-BE49-F238E27FC236}">
                <a16:creationId xmlns:a16="http://schemas.microsoft.com/office/drawing/2014/main" id="{721D7BDB-3444-A70A-2144-9E9C83E48E3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54075" y="1108075"/>
            <a:ext cx="7108825" cy="2682875"/>
          </a:xfrm>
        </p:spPr>
        <p:txBody>
          <a:bodyPr/>
          <a:lstStyle/>
          <a:p>
            <a:r>
              <a:rPr lang="en-US" altLang="en-US" sz="2200"/>
              <a:t>Multi-chip and </a:t>
            </a:r>
            <a:r>
              <a:rPr lang="en-US" altLang="en-US" sz="2200" b="1">
                <a:solidFill>
                  <a:srgbClr val="3366FF"/>
                </a:solidFill>
              </a:rPr>
              <a:t>multicore</a:t>
            </a:r>
          </a:p>
          <a:p>
            <a:r>
              <a:rPr lang="en-US" altLang="en-US" sz="2200"/>
              <a:t>Systems containing all  chips</a:t>
            </a:r>
            <a:endParaRPr lang="en-US" altLang="en-US" sz="2200" b="1">
              <a:solidFill>
                <a:srgbClr val="3366FF"/>
              </a:solidFill>
            </a:endParaRPr>
          </a:p>
          <a:p>
            <a:pPr lvl="1"/>
            <a:r>
              <a:rPr lang="en-US" altLang="en-US" sz="2200"/>
              <a:t>Chassis containing multiple separate systems</a:t>
            </a:r>
          </a:p>
          <a:p>
            <a:pPr lvl="1"/>
            <a:endParaRPr lang="en-US" altLang="en-US" sz="2200"/>
          </a:p>
        </p:txBody>
      </p:sp>
      <p:pic>
        <p:nvPicPr>
          <p:cNvPr id="23556" name="Picture 10" descr="1">
            <a:extLst>
              <a:ext uri="{FF2B5EF4-FFF2-40B4-BE49-F238E27FC236}">
                <a16:creationId xmlns:a16="http://schemas.microsoft.com/office/drawing/2014/main" id="{F5AA58DA-8D1C-8B9A-D35C-B2AE3AFEF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838" y="3073400"/>
            <a:ext cx="3465512" cy="254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F22FBD5-1BED-5978-4A9A-0B72019EAC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r>
              <a:rPr lang="en-US" altLang="en-US"/>
              <a:t>Clustered Systems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FB78C16F-10FD-70F1-D012-EFEA402908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r>
              <a:rPr lang="en-US" altLang="en-US" sz="2000"/>
              <a:t>Like multiprocessor systems, but multiple systems working together</a:t>
            </a:r>
          </a:p>
          <a:p>
            <a:pPr lvl="1"/>
            <a:r>
              <a:rPr lang="en-US" altLang="en-US" sz="2000"/>
              <a:t>Usually sharing storage via a </a:t>
            </a:r>
            <a:r>
              <a:rPr lang="en-US" altLang="en-US" sz="2000" b="1">
                <a:solidFill>
                  <a:srgbClr val="3366FF"/>
                </a:solidFill>
              </a:rPr>
              <a:t>storage-area network (SAN)</a:t>
            </a:r>
          </a:p>
          <a:p>
            <a:pPr lvl="1"/>
            <a:r>
              <a:rPr lang="en-US" altLang="en-US" sz="2000"/>
              <a:t>Provides a </a:t>
            </a:r>
            <a:r>
              <a:rPr lang="en-US" altLang="en-US" sz="2000" b="1">
                <a:solidFill>
                  <a:srgbClr val="3366FF"/>
                </a:solidFill>
              </a:rPr>
              <a:t>high-availability</a:t>
            </a:r>
            <a:r>
              <a:rPr lang="en-US" altLang="en-US" sz="2000" b="1"/>
              <a:t> </a:t>
            </a:r>
            <a:r>
              <a:rPr lang="en-US" altLang="en-US" sz="2000"/>
              <a:t>service which survives failures</a:t>
            </a:r>
          </a:p>
          <a:p>
            <a:pPr lvl="2"/>
            <a:r>
              <a:rPr lang="en-US" altLang="en-US" sz="2000" b="1">
                <a:solidFill>
                  <a:srgbClr val="3366FF"/>
                </a:solidFill>
              </a:rPr>
              <a:t>Asymmetric clustering</a:t>
            </a:r>
            <a:r>
              <a:rPr lang="en-US" altLang="en-US" sz="2000">
                <a:solidFill>
                  <a:srgbClr val="3366FF"/>
                </a:solidFill>
              </a:rPr>
              <a:t> </a:t>
            </a:r>
            <a:r>
              <a:rPr lang="en-US" altLang="en-US" sz="2000"/>
              <a:t>has one machine in hot-standby mode</a:t>
            </a:r>
          </a:p>
          <a:p>
            <a:pPr lvl="2"/>
            <a:r>
              <a:rPr lang="en-US" altLang="en-US" sz="2000" b="1">
                <a:solidFill>
                  <a:srgbClr val="3366FF"/>
                </a:solidFill>
              </a:rPr>
              <a:t>Symmetric clustering</a:t>
            </a:r>
            <a:r>
              <a:rPr lang="en-US" altLang="en-US" sz="2000">
                <a:solidFill>
                  <a:srgbClr val="3366FF"/>
                </a:solidFill>
              </a:rPr>
              <a:t> </a:t>
            </a:r>
            <a:r>
              <a:rPr lang="en-US" altLang="en-US" sz="2000"/>
              <a:t>has multiple nodes running applications, monitoring each other</a:t>
            </a:r>
          </a:p>
          <a:p>
            <a:pPr lvl="1"/>
            <a:r>
              <a:rPr lang="en-US" altLang="en-US" sz="2000"/>
              <a:t>Some clusters are for </a:t>
            </a:r>
            <a:r>
              <a:rPr lang="en-US" altLang="en-US" sz="2000" b="1">
                <a:solidFill>
                  <a:srgbClr val="3366FF"/>
                </a:solidFill>
              </a:rPr>
              <a:t>high-performance computing (HPC)</a:t>
            </a:r>
          </a:p>
          <a:p>
            <a:pPr lvl="2"/>
            <a:r>
              <a:rPr lang="en-US" altLang="en-US" sz="2000"/>
              <a:t>Applications must be written to use </a:t>
            </a:r>
            <a:r>
              <a:rPr lang="en-US" altLang="en-US" sz="2000" b="1">
                <a:solidFill>
                  <a:srgbClr val="3366FF"/>
                </a:solidFill>
              </a:rPr>
              <a:t>parallelization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D2C976CF-024C-1103-EC83-538E91B527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r>
              <a:rPr lang="en-US" altLang="en-US"/>
              <a:t>Clustered Systems</a:t>
            </a:r>
          </a:p>
        </p:txBody>
      </p:sp>
      <p:pic>
        <p:nvPicPr>
          <p:cNvPr id="25603" name="Content Placeholder 3" descr="1.08.pdf">
            <a:extLst>
              <a:ext uri="{FF2B5EF4-FFF2-40B4-BE49-F238E27FC236}">
                <a16:creationId xmlns:a16="http://schemas.microsoft.com/office/drawing/2014/main" id="{2AB90626-D893-49B0-7BD9-32D0A5F7797D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76" b="-3476"/>
          <a:stretch>
            <a:fillRect/>
          </a:stretch>
        </p:blipFill>
        <p:spPr>
          <a:xfrm>
            <a:off x="1404938" y="1557338"/>
            <a:ext cx="6402387" cy="352425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E0EC5BB-54E5-4B02-920C-04923A046C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1666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Structure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3418407-0AD9-34DF-3710-ED87F4387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835025"/>
            <a:ext cx="7832725" cy="5462588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Multiprogramming</a:t>
            </a:r>
            <a:r>
              <a:rPr lang="en-US" altLang="en-US" sz="1600"/>
              <a:t> (</a:t>
            </a:r>
            <a:r>
              <a:rPr lang="en-US" altLang="en-US" b="1">
                <a:solidFill>
                  <a:srgbClr val="3366FF"/>
                </a:solidFill>
              </a:rPr>
              <a:t>Batch system</a:t>
            </a:r>
            <a:r>
              <a:rPr lang="en-US" altLang="en-US" sz="1600"/>
              <a:t>) needed for efficiency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Single user cannot keep CPU and I/O devices busy at all times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Multiprogramming organizes jobs (code and data) so CPU always has one to execute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A subset of total jobs in system is kept in memory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One job selected and run via </a:t>
            </a:r>
            <a:r>
              <a:rPr lang="en-US" altLang="en-US" b="1">
                <a:solidFill>
                  <a:srgbClr val="3366FF"/>
                </a:solidFill>
              </a:rPr>
              <a:t>job scheduling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When it has to wait (for I/O for example), OS switches to another job</a:t>
            </a:r>
          </a:p>
          <a:p>
            <a:pPr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Timesharing </a:t>
            </a:r>
            <a:r>
              <a:rPr lang="en-US" altLang="en-US" sz="1600"/>
              <a:t>(</a:t>
            </a:r>
            <a:r>
              <a:rPr lang="en-US" altLang="en-US" b="1">
                <a:solidFill>
                  <a:srgbClr val="3366FF"/>
                </a:solidFill>
              </a:rPr>
              <a:t>multitasking</a:t>
            </a:r>
            <a:r>
              <a:rPr lang="en-US" altLang="en-US" sz="1600"/>
              <a:t>)</a:t>
            </a:r>
            <a:r>
              <a:rPr lang="en-US" altLang="en-US" b="1">
                <a:solidFill>
                  <a:srgbClr val="3366FF"/>
                </a:solidFill>
              </a:rPr>
              <a:t> </a:t>
            </a:r>
            <a:r>
              <a:rPr lang="en-US" altLang="en-US" sz="1600"/>
              <a:t>is logical extension in which CPU switches jobs so frequently that users can interact with each job while it is running, creating </a:t>
            </a:r>
            <a:r>
              <a:rPr lang="en-US" altLang="en-US" b="1">
                <a:solidFill>
                  <a:srgbClr val="3366FF"/>
                </a:solidFill>
              </a:rPr>
              <a:t>interactive</a:t>
            </a:r>
            <a:r>
              <a:rPr lang="en-US" altLang="en-US" sz="1600"/>
              <a:t> computing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Response time </a:t>
            </a:r>
            <a:r>
              <a:rPr lang="en-US" altLang="en-US" sz="1600"/>
              <a:t>should be &lt; 1 second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Each user has at least one program executing in memory </a:t>
            </a:r>
            <a:r>
              <a:rPr lang="en-US" altLang="en-US" sz="1600">
                <a:sym typeface="Wingdings 3" panose="05040102010807070707" pitchFamily="18" charset="2"/>
              </a:rPr>
              <a:t></a:t>
            </a:r>
            <a:r>
              <a:rPr lang="en-US" altLang="en-US" b="1">
                <a:solidFill>
                  <a:srgbClr val="3366FF"/>
                </a:solidFill>
                <a:sym typeface="Wingdings 3" panose="05040102010807070707" pitchFamily="18" charset="2"/>
              </a:rPr>
              <a:t>process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en-US" b="1">
                <a:solidFill>
                  <a:srgbClr val="3366FF"/>
                </a:solidFill>
                <a:sym typeface="Wingdings 3" panose="05040102010807070707" pitchFamily="18" charset="2"/>
              </a:rPr>
              <a:t>CPU scheduling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sym typeface="Wingdings 3" panose="05040102010807070707" pitchFamily="18" charset="2"/>
              </a:rPr>
              <a:t>If processes don</a:t>
            </a:r>
            <a:r>
              <a:rPr lang="ja-JP" altLang="en-US" sz="1600">
                <a:sym typeface="Wingdings 3" panose="05040102010807070707" pitchFamily="18" charset="2"/>
              </a:rPr>
              <a:t>’</a:t>
            </a:r>
            <a:r>
              <a:rPr lang="en-US" altLang="ja-JP" sz="1600">
                <a:sym typeface="Wingdings 3" panose="05040102010807070707" pitchFamily="18" charset="2"/>
              </a:rPr>
              <a:t>t fit in memory, </a:t>
            </a:r>
            <a:r>
              <a:rPr lang="en-US" altLang="ja-JP" b="1">
                <a:solidFill>
                  <a:srgbClr val="3366FF"/>
                </a:solidFill>
                <a:sym typeface="Wingdings 3" panose="05040102010807070707" pitchFamily="18" charset="2"/>
              </a:rPr>
              <a:t>swapping</a:t>
            </a:r>
            <a:r>
              <a:rPr lang="en-US" altLang="ja-JP" sz="1600">
                <a:sym typeface="Wingdings 3" panose="05040102010807070707" pitchFamily="18" charset="2"/>
              </a:rPr>
              <a:t> moves them in and out to run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  <a:sym typeface="Wingdings 3" panose="05040102010807070707" pitchFamily="18" charset="2"/>
              </a:rPr>
              <a:t>Virtual memory </a:t>
            </a:r>
            <a:r>
              <a:rPr lang="en-US" altLang="en-US" sz="1600">
                <a:sym typeface="Wingdings 3" panose="05040102010807070707" pitchFamily="18" charset="2"/>
              </a:rPr>
              <a:t>allows execution of processes not completely in memory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AD5D0B7-670A-BD3B-00D6-A38606ACD7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Memory Layout for Multiprogrammed System</a:t>
            </a:r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DA25FE06-6BE1-843C-AF1C-0D5245993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63" y="1230313"/>
            <a:ext cx="2814637" cy="433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89417BA-4864-EF84-4102-BDAE3ABD1F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9513" y="19843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Operating-System Operations (cont.)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D8BA8A2-08EC-2338-2B60-B57056C0E5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23875" y="1233488"/>
            <a:ext cx="8074025" cy="493871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endParaRPr lang="en-US" altLang="en-US" sz="2200" b="1" dirty="0">
              <a:solidFill>
                <a:srgbClr val="3366FF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200" b="1" dirty="0">
                <a:solidFill>
                  <a:srgbClr val="3366FF"/>
                </a:solidFill>
              </a:rPr>
              <a:t>Dual-mode </a:t>
            </a:r>
            <a:r>
              <a:rPr lang="en-US" altLang="en-US" sz="2200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200" b="1" dirty="0">
                <a:solidFill>
                  <a:srgbClr val="3366FF"/>
                </a:solidFill>
              </a:rPr>
              <a:t>User mode </a:t>
            </a:r>
            <a:r>
              <a:rPr lang="en-US" altLang="en-US" sz="2200" dirty="0"/>
              <a:t>and </a:t>
            </a:r>
            <a:r>
              <a:rPr lang="en-US" altLang="en-US" sz="2200" b="1" dirty="0">
                <a:solidFill>
                  <a:srgbClr val="3366FF"/>
                </a:solidFill>
              </a:rPr>
              <a:t>kernel mode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200" b="1" dirty="0">
                <a:solidFill>
                  <a:srgbClr val="3366FF"/>
                </a:solidFill>
              </a:rPr>
              <a:t>Mode bit </a:t>
            </a:r>
            <a:r>
              <a:rPr lang="en-US" altLang="en-US" sz="2200" dirty="0"/>
              <a:t>provided by hardware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en-US" sz="2200" dirty="0"/>
              <a:t>Provides ability to distinguish when system is running user code or kernel code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en-US" sz="2200" dirty="0"/>
              <a:t>Some instructions designated as </a:t>
            </a:r>
            <a:r>
              <a:rPr lang="en-US" altLang="en-US" sz="2200" b="1" dirty="0">
                <a:solidFill>
                  <a:srgbClr val="3366FF"/>
                </a:solidFill>
              </a:rPr>
              <a:t>privileged</a:t>
            </a:r>
            <a:r>
              <a:rPr lang="en-US" altLang="en-US" sz="2200" dirty="0"/>
              <a:t>, only executable in kernel mode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en-US" sz="2200" dirty="0"/>
              <a:t>System call changes mode to kernel, return from call resets it to user</a:t>
            </a:r>
          </a:p>
          <a:p>
            <a:pPr marL="457200" lvl="1" indent="0"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5AEAADB-2674-270F-B6D1-9FF06003BF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8415338" cy="576263"/>
          </a:xfrm>
        </p:spPr>
        <p:txBody>
          <a:bodyPr/>
          <a:lstStyle/>
          <a:p>
            <a:pPr eaLnBrk="1" hangingPunct="1"/>
            <a:r>
              <a:rPr lang="en-US" altLang="en-US"/>
              <a:t>Transition from User to Kernel Mode</a:t>
            </a:r>
          </a:p>
        </p:txBody>
      </p:sp>
      <p:sp>
        <p:nvSpPr>
          <p:cNvPr id="29699" name="Rectangle 4">
            <a:extLst>
              <a:ext uri="{FF2B5EF4-FFF2-40B4-BE49-F238E27FC236}">
                <a16:creationId xmlns:a16="http://schemas.microsoft.com/office/drawing/2014/main" id="{98657DDB-B3DE-DB5E-65D5-BA54140AA5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2325" y="1060450"/>
            <a:ext cx="7753350" cy="2817813"/>
          </a:xfrm>
        </p:spPr>
        <p:txBody>
          <a:bodyPr/>
          <a:lstStyle/>
          <a:p>
            <a:r>
              <a:rPr lang="en-US" altLang="en-US"/>
              <a:t>Timer to prevent infinite loop / process hogging resources</a:t>
            </a:r>
          </a:p>
          <a:p>
            <a:pPr lvl="1"/>
            <a:r>
              <a:rPr lang="en-US" altLang="en-US"/>
              <a:t>Timer is set to interrupt the computer after some time period</a:t>
            </a:r>
          </a:p>
          <a:p>
            <a:pPr lvl="1"/>
            <a:r>
              <a:rPr lang="en-US" altLang="en-US"/>
              <a:t>Keep a counter that is decremented by the physical clock.</a:t>
            </a:r>
          </a:p>
          <a:p>
            <a:pPr lvl="1"/>
            <a:r>
              <a:rPr lang="en-US" altLang="en-US"/>
              <a:t>Operating system set the counter (privileged instruction)</a:t>
            </a:r>
          </a:p>
          <a:p>
            <a:pPr lvl="1"/>
            <a:r>
              <a:rPr lang="en-US" altLang="en-US"/>
              <a:t>When counter zero generate an interrupt</a:t>
            </a:r>
          </a:p>
          <a:p>
            <a:pPr lvl="1"/>
            <a:r>
              <a:rPr lang="en-US" altLang="en-US"/>
              <a:t>Set up before scheduling process to regain control or terminate program that exceeds allotted time</a:t>
            </a:r>
          </a:p>
        </p:txBody>
      </p:sp>
      <p:pic>
        <p:nvPicPr>
          <p:cNvPr id="29700" name="Picture 5">
            <a:extLst>
              <a:ext uri="{FF2B5EF4-FFF2-40B4-BE49-F238E27FC236}">
                <a16:creationId xmlns:a16="http://schemas.microsoft.com/office/drawing/2014/main" id="{8A5562CD-A565-857E-A699-803BBB3BA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3895725"/>
            <a:ext cx="7602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37469F2-4407-52F1-19E9-858518BCA4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28713" y="152400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Management Activities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838322D-4333-41B1-F7D8-20095D36C0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28688" y="1693863"/>
            <a:ext cx="7958137" cy="441007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sz="2400"/>
              <a:t>     </a:t>
            </a:r>
          </a:p>
          <a:p>
            <a:r>
              <a:rPr lang="en-US" altLang="en-US" sz="2400"/>
              <a:t>Creating and deleting both user and system processes</a:t>
            </a:r>
          </a:p>
          <a:p>
            <a:r>
              <a:rPr lang="en-US" altLang="en-US" sz="2400"/>
              <a:t>Suspending and resuming processes</a:t>
            </a:r>
          </a:p>
          <a:p>
            <a:r>
              <a:rPr lang="en-US" altLang="en-US" sz="2400"/>
              <a:t>Providing mechanisms for process synchronization</a:t>
            </a:r>
          </a:p>
          <a:p>
            <a:r>
              <a:rPr lang="en-US" altLang="en-US" sz="2400"/>
              <a:t>Providing mechanisms for process communication</a:t>
            </a:r>
          </a:p>
          <a:p>
            <a:r>
              <a:rPr lang="en-US" altLang="en-US" sz="2400"/>
              <a:t>Providing mechanisms for deadlock handling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FA2E4315-9E9C-C7ED-D66A-1AFD3F744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238250"/>
            <a:ext cx="75866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Helvetica" panose="020B0604020202020204" pitchFamily="34" charset="0"/>
              </a:rPr>
              <a:t>The operating system is responsible for the following activities in connection with process management: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B46D002-86E9-8712-4DC8-86B04EFA2F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90613" y="166688"/>
            <a:ext cx="7596187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 Management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108EB08-74EF-4590-EEB2-599A5542BF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79425" y="1233488"/>
            <a:ext cx="7923213" cy="4530725"/>
          </a:xfrm>
        </p:spPr>
        <p:txBody>
          <a:bodyPr/>
          <a:lstStyle/>
          <a:p>
            <a:r>
              <a:rPr lang="en-US" altLang="en-US" sz="2000"/>
              <a:t>To execute a program all (or part) of the </a:t>
            </a:r>
            <a:r>
              <a:rPr lang="en-US" altLang="en-US" sz="2000">
                <a:solidFill>
                  <a:srgbClr val="FF0000"/>
                </a:solidFill>
              </a:rPr>
              <a:t>instructions</a:t>
            </a:r>
            <a:r>
              <a:rPr lang="en-US" altLang="en-US" sz="2000"/>
              <a:t> must be in memory</a:t>
            </a:r>
          </a:p>
          <a:p>
            <a:r>
              <a:rPr lang="en-US" altLang="en-US" sz="2000"/>
              <a:t>All  (or part) of the </a:t>
            </a:r>
            <a:r>
              <a:rPr lang="en-US" altLang="en-US" sz="2000">
                <a:solidFill>
                  <a:srgbClr val="FF0000"/>
                </a:solidFill>
              </a:rPr>
              <a:t>data</a:t>
            </a:r>
            <a:r>
              <a:rPr lang="en-US" altLang="en-US" sz="2000"/>
              <a:t> that is needed by the program must be in memory.</a:t>
            </a:r>
          </a:p>
          <a:p>
            <a:r>
              <a:rPr lang="en-US" altLang="en-US" sz="2000"/>
              <a:t>Memory management determines what is in memory and when</a:t>
            </a:r>
          </a:p>
          <a:p>
            <a:pPr lvl="1"/>
            <a:r>
              <a:rPr lang="en-US" altLang="en-US" sz="2000"/>
              <a:t>Optimizing CPU utilization and computer response to users</a:t>
            </a:r>
          </a:p>
          <a:p>
            <a:r>
              <a:rPr lang="en-US" altLang="en-US" sz="2000"/>
              <a:t>Memory management activities</a:t>
            </a:r>
          </a:p>
          <a:p>
            <a:pPr lvl="1"/>
            <a:r>
              <a:rPr lang="en-US" altLang="en-US" sz="2000"/>
              <a:t>Keeping track of which parts of memory are currently being used and by whom</a:t>
            </a:r>
          </a:p>
          <a:p>
            <a:pPr lvl="1"/>
            <a:r>
              <a:rPr lang="en-US" altLang="en-US" sz="2000"/>
              <a:t>Deciding which processes (or parts) and data to move into and out of memory</a:t>
            </a:r>
          </a:p>
          <a:p>
            <a:pPr lvl="1"/>
            <a:r>
              <a:rPr lang="en-US" altLang="en-US" sz="2000"/>
              <a:t>Allocating and deallocating memory space as needed</a:t>
            </a:r>
          </a:p>
          <a:p>
            <a:pPr lvl="1">
              <a:buFont typeface="Monotype Sorts" pitchFamily="-84" charset="2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5738E99-0FA8-CCEF-5B19-8BDB6239AC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28713" y="18256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Management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323598F-D459-6557-D27F-53415B0916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20750" y="1104900"/>
            <a:ext cx="7434263" cy="49926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OS provides uniform, logical view of information storage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Abstracts physical properties to logical storage unit  - </a:t>
            </a:r>
            <a:r>
              <a:rPr lang="en-US" altLang="en-US" b="1">
                <a:solidFill>
                  <a:srgbClr val="3366FF"/>
                </a:solidFill>
              </a:rPr>
              <a:t>file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Each medium is controlled by device (i.e., disk drive, tape drive)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Varying properties include access speed, capacity, data-transfer rate, access method (sequential or random)</a:t>
            </a:r>
          </a:p>
          <a:p>
            <a:pPr lvl="2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File-System management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Files usually organized into directories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Access control on most systems to determine who can access what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OS activities include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Creating and deleting files and directories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Primitives to manipulate files and directories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Mapping files onto secondary storage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Backup files onto stable (non-volatile) storage media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21DBCAD-41AD-7E3E-CD31-0A8DF696E2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31913" y="277813"/>
            <a:ext cx="7354887" cy="576262"/>
          </a:xfrm>
        </p:spPr>
        <p:txBody>
          <a:bodyPr/>
          <a:lstStyle/>
          <a:p>
            <a:pPr eaLnBrk="1" hangingPunct="1"/>
            <a:r>
              <a:rPr lang="en-US" altLang="en-US"/>
              <a:t>Mass-Storage Management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1D5479D-6F39-F8A3-D70C-20C03084AB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575550" cy="4938712"/>
          </a:xfrm>
        </p:spPr>
        <p:txBody>
          <a:bodyPr/>
          <a:lstStyle/>
          <a:p>
            <a:r>
              <a:rPr lang="en-US" altLang="en-US"/>
              <a:t>Usually disks used to store data that does not fit in main memory or data that must be kept for a </a:t>
            </a:r>
            <a:r>
              <a:rPr lang="ja-JP" altLang="en-US"/>
              <a:t>“</a:t>
            </a:r>
            <a:r>
              <a:rPr lang="en-US" altLang="ja-JP"/>
              <a:t>long</a:t>
            </a:r>
            <a:r>
              <a:rPr lang="ja-JP" altLang="en-US"/>
              <a:t>”</a:t>
            </a:r>
            <a:r>
              <a:rPr lang="en-US" altLang="ja-JP"/>
              <a:t> period of time</a:t>
            </a:r>
          </a:p>
          <a:p>
            <a:r>
              <a:rPr lang="en-US" altLang="en-US"/>
              <a:t>Proper management is of central importance</a:t>
            </a:r>
          </a:p>
          <a:p>
            <a:r>
              <a:rPr lang="en-US" altLang="en-US"/>
              <a:t>Entire speed of computer operation hinges on disk subsystem and its algorithms</a:t>
            </a:r>
          </a:p>
          <a:p>
            <a:r>
              <a:rPr lang="en-US" altLang="en-US"/>
              <a:t>OS activities</a:t>
            </a:r>
          </a:p>
          <a:p>
            <a:pPr lvl="1"/>
            <a:r>
              <a:rPr lang="en-US" altLang="en-US"/>
              <a:t>Free-space management</a:t>
            </a:r>
          </a:p>
          <a:p>
            <a:pPr lvl="1"/>
            <a:r>
              <a:rPr lang="en-US" altLang="en-US"/>
              <a:t>Storage allocation</a:t>
            </a:r>
          </a:p>
          <a:p>
            <a:pPr lvl="1"/>
            <a:r>
              <a:rPr lang="en-US" altLang="en-US"/>
              <a:t>Disk scheduling</a:t>
            </a:r>
          </a:p>
          <a:p>
            <a:r>
              <a:rPr lang="en-US" altLang="en-US"/>
              <a:t>Some storage need not be fast</a:t>
            </a:r>
          </a:p>
          <a:p>
            <a:pPr lvl="1"/>
            <a:r>
              <a:rPr lang="en-US" altLang="en-US"/>
              <a:t>Tertiary storage includes optical storage, magnetic tape</a:t>
            </a:r>
          </a:p>
          <a:p>
            <a:pPr lvl="1"/>
            <a:r>
              <a:rPr lang="en-US" altLang="en-US"/>
              <a:t>Still must be managed – by OS or applications</a:t>
            </a:r>
          </a:p>
          <a:p>
            <a:pPr lvl="1"/>
            <a:r>
              <a:rPr lang="en-US" altLang="en-US"/>
              <a:t>Varies between WORM (write-once, read-many-times) and RW (read-write)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0247891-6576-A0CB-43D4-7DAA93463ED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3438" y="182563"/>
            <a:ext cx="8531225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Performance of Various Levels of Storage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9B65712-1D2C-B7F3-0B89-252AC9285C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707313" cy="4521200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    Movement between levels of storage hierarchy can be explicit or implicit</a:t>
            </a:r>
          </a:p>
        </p:txBody>
      </p:sp>
      <p:pic>
        <p:nvPicPr>
          <p:cNvPr id="34820" name="Picture 1" descr="1_11.pdf">
            <a:extLst>
              <a:ext uri="{FF2B5EF4-FFF2-40B4-BE49-F238E27FC236}">
                <a16:creationId xmlns:a16="http://schemas.microsoft.com/office/drawing/2014/main" id="{32A14BFE-E6EF-77E6-DAAA-F52B7CE41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349375"/>
            <a:ext cx="687705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8EDAA28-BE67-987F-6D12-291CFFCF05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35063" y="1365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Migration of data “A” from Disk to Register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04A6A53-73E6-F827-F74E-48FD6ECDF1F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391400" cy="4530725"/>
          </a:xfrm>
        </p:spPr>
        <p:txBody>
          <a:bodyPr/>
          <a:lstStyle/>
          <a:p>
            <a:r>
              <a:rPr lang="en-US" altLang="en-US"/>
              <a:t>Multitasking environments must be careful to use most recent value, no matter where it is stored in the storage hierarchy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Multiprocessor environment must provide </a:t>
            </a:r>
            <a:r>
              <a:rPr lang="en-US" altLang="en-US" b="1">
                <a:solidFill>
                  <a:srgbClr val="3366FF"/>
                </a:solidFill>
              </a:rPr>
              <a:t>cache coherency </a:t>
            </a:r>
            <a:r>
              <a:rPr lang="en-US" altLang="en-US"/>
              <a:t>in hardware such that all CPUs have the most recent value in their cache</a:t>
            </a:r>
            <a:endParaRPr lang="en-US" altLang="en-US" sz="800"/>
          </a:p>
          <a:p>
            <a:r>
              <a:rPr lang="en-US" altLang="en-US"/>
              <a:t>Distributed environment situation even more complex</a:t>
            </a:r>
          </a:p>
          <a:p>
            <a:pPr lvl="1"/>
            <a:r>
              <a:rPr lang="en-US" altLang="en-US"/>
              <a:t>Several copies of a datum can exist</a:t>
            </a:r>
          </a:p>
          <a:p>
            <a:pPr lvl="1"/>
            <a:r>
              <a:rPr lang="en-US" altLang="en-US"/>
              <a:t>Various solutions covered in Chapter 17</a:t>
            </a:r>
          </a:p>
        </p:txBody>
      </p:sp>
      <p:pic>
        <p:nvPicPr>
          <p:cNvPr id="35844" name="Picture 5" descr="C:\Users\as668\Desktop\1_12.jpg">
            <a:extLst>
              <a:ext uri="{FF2B5EF4-FFF2-40B4-BE49-F238E27FC236}">
                <a16:creationId xmlns:a16="http://schemas.microsoft.com/office/drawing/2014/main" id="{B86C60D0-F6A5-AF0C-370F-6C3768B49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2211388"/>
            <a:ext cx="65595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965B3E5-0633-57A0-AEA5-FBBE2DD50A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10347</TotalTime>
  <Words>1977</Words>
  <Application>Microsoft Office PowerPoint</Application>
  <PresentationFormat>On-screen Show (4:3)</PresentationFormat>
  <Paragraphs>243</Paragraphs>
  <Slides>34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os-8</vt:lpstr>
      <vt:lpstr>Chapter 1:  Introduction</vt:lpstr>
      <vt:lpstr>Chapter 1: Introduction</vt:lpstr>
      <vt:lpstr>Objectives</vt:lpstr>
      <vt:lpstr>Four Components of a Computer System</vt:lpstr>
      <vt:lpstr>Computer System Structure</vt:lpstr>
      <vt:lpstr>What is an Operating System?</vt:lpstr>
      <vt:lpstr>What Operating Systems Do</vt:lpstr>
      <vt:lpstr>Operating System Definition (Cont.)</vt:lpstr>
      <vt:lpstr>Computer Startup</vt:lpstr>
      <vt:lpstr>Computer System Organization</vt:lpstr>
      <vt:lpstr>Computer-System Operation</vt:lpstr>
      <vt:lpstr>Common Functions of Interrupts</vt:lpstr>
      <vt:lpstr>I/O Structure</vt:lpstr>
      <vt:lpstr>Storage Definitions and Notation Review</vt:lpstr>
      <vt:lpstr>Storage Structure</vt:lpstr>
      <vt:lpstr>Storage Hierarchy</vt:lpstr>
      <vt:lpstr>Storage-Device Hierarchy</vt:lpstr>
      <vt:lpstr>Caching</vt:lpstr>
      <vt:lpstr>Computer-System Architecture</vt:lpstr>
      <vt:lpstr>Symmetric Multiprocessing Architecture</vt:lpstr>
      <vt:lpstr>A Dual-Core Design</vt:lpstr>
      <vt:lpstr>Clustered Systems</vt:lpstr>
      <vt:lpstr>Clustered Systems</vt:lpstr>
      <vt:lpstr>Operating System Structure</vt:lpstr>
      <vt:lpstr>Memory Layout for Multiprogrammed System</vt:lpstr>
      <vt:lpstr>Operating-System Operations (cont.)</vt:lpstr>
      <vt:lpstr>Transition from User to Kernel Mode</vt:lpstr>
      <vt:lpstr>Process Management Activities</vt:lpstr>
      <vt:lpstr>Memory Management</vt:lpstr>
      <vt:lpstr>Storage Management</vt:lpstr>
      <vt:lpstr>Mass-Storage Management</vt:lpstr>
      <vt:lpstr>Performance of Various Levels of Storage</vt:lpstr>
      <vt:lpstr>Migration of data “A” from Disk to Register</vt:lpstr>
      <vt:lpstr>End of Chapter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marwaabdella2@gmail.com</cp:lastModifiedBy>
  <cp:revision>190</cp:revision>
  <cp:lastPrinted>2001-06-14T13:58:17Z</cp:lastPrinted>
  <dcterms:created xsi:type="dcterms:W3CDTF">2011-01-13T23:43:38Z</dcterms:created>
  <dcterms:modified xsi:type="dcterms:W3CDTF">2026-09-19T05:32:53Z</dcterms:modified>
</cp:coreProperties>
</file>