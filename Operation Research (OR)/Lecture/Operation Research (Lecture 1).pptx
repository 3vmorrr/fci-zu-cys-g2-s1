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6" r:id="rId17"/>
    <p:sldId id="277" r:id="rId18"/>
    <p:sldId id="278" r:id="rId19"/>
    <p:sldId id="281" r:id="rId2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8" d="100"/>
          <a:sy n="68" d="100"/>
        </p:scale>
        <p:origin x="144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440" y="5587"/>
            <a:ext cx="8276488" cy="878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E4E4F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E4E4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3189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E4E4F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E4E4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3189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E4E4F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3189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E4E4F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3189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3189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43200" y="4197350"/>
            <a:ext cx="4575175" cy="265271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19875" y="4240276"/>
            <a:ext cx="1998599" cy="12873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03750" y="5311775"/>
            <a:ext cx="4522851" cy="1538287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4362450" y="3540125"/>
            <a:ext cx="4773930" cy="3310254"/>
          </a:xfrm>
          <a:custGeom>
            <a:avLst/>
            <a:gdLst/>
            <a:ahLst/>
            <a:cxnLst/>
            <a:rect l="l" t="t" r="r" b="b"/>
            <a:pathLst>
              <a:path w="4773930" h="3310254">
                <a:moveTo>
                  <a:pt x="4773676" y="0"/>
                </a:moveTo>
                <a:lnTo>
                  <a:pt x="4618101" y="34925"/>
                </a:lnTo>
                <a:lnTo>
                  <a:pt x="4437126" y="69850"/>
                </a:lnTo>
                <a:lnTo>
                  <a:pt x="4248150" y="104775"/>
                </a:lnTo>
                <a:lnTo>
                  <a:pt x="4049649" y="130175"/>
                </a:lnTo>
                <a:lnTo>
                  <a:pt x="3627374" y="190500"/>
                </a:lnTo>
                <a:lnTo>
                  <a:pt x="3420999" y="215900"/>
                </a:lnTo>
                <a:lnTo>
                  <a:pt x="3222625" y="250825"/>
                </a:lnTo>
                <a:lnTo>
                  <a:pt x="3024251" y="276225"/>
                </a:lnTo>
                <a:lnTo>
                  <a:pt x="2843276" y="320675"/>
                </a:lnTo>
                <a:lnTo>
                  <a:pt x="2679700" y="363474"/>
                </a:lnTo>
                <a:lnTo>
                  <a:pt x="2541651" y="414274"/>
                </a:lnTo>
                <a:lnTo>
                  <a:pt x="2421001" y="476250"/>
                </a:lnTo>
                <a:lnTo>
                  <a:pt x="2335276" y="536575"/>
                </a:lnTo>
                <a:lnTo>
                  <a:pt x="2309876" y="569849"/>
                </a:lnTo>
                <a:lnTo>
                  <a:pt x="2282825" y="614299"/>
                </a:lnTo>
                <a:lnTo>
                  <a:pt x="2265426" y="657225"/>
                </a:lnTo>
                <a:lnTo>
                  <a:pt x="2265426" y="700024"/>
                </a:lnTo>
                <a:lnTo>
                  <a:pt x="2274951" y="752475"/>
                </a:lnTo>
                <a:lnTo>
                  <a:pt x="2292350" y="795274"/>
                </a:lnTo>
                <a:lnTo>
                  <a:pt x="2317750" y="838200"/>
                </a:lnTo>
                <a:lnTo>
                  <a:pt x="2352675" y="873125"/>
                </a:lnTo>
                <a:lnTo>
                  <a:pt x="2446401" y="941324"/>
                </a:lnTo>
                <a:lnTo>
                  <a:pt x="2576576" y="1011174"/>
                </a:lnTo>
                <a:lnTo>
                  <a:pt x="2722626" y="1063625"/>
                </a:lnTo>
                <a:lnTo>
                  <a:pt x="2886075" y="1114425"/>
                </a:lnTo>
                <a:lnTo>
                  <a:pt x="3059176" y="1166749"/>
                </a:lnTo>
                <a:lnTo>
                  <a:pt x="3420999" y="1252474"/>
                </a:lnTo>
                <a:lnTo>
                  <a:pt x="3601974" y="1304925"/>
                </a:lnTo>
                <a:lnTo>
                  <a:pt x="3765550" y="1347724"/>
                </a:lnTo>
                <a:lnTo>
                  <a:pt x="3911600" y="1400175"/>
                </a:lnTo>
                <a:lnTo>
                  <a:pt x="4049649" y="1460500"/>
                </a:lnTo>
                <a:lnTo>
                  <a:pt x="4152900" y="1520825"/>
                </a:lnTo>
                <a:lnTo>
                  <a:pt x="4187825" y="1555750"/>
                </a:lnTo>
                <a:lnTo>
                  <a:pt x="4221226" y="1598549"/>
                </a:lnTo>
                <a:lnTo>
                  <a:pt x="4248150" y="1633474"/>
                </a:lnTo>
                <a:lnTo>
                  <a:pt x="4256151" y="1676400"/>
                </a:lnTo>
                <a:lnTo>
                  <a:pt x="4256151" y="1719326"/>
                </a:lnTo>
                <a:lnTo>
                  <a:pt x="4230751" y="1789176"/>
                </a:lnTo>
                <a:lnTo>
                  <a:pt x="4195826" y="1824101"/>
                </a:lnTo>
                <a:lnTo>
                  <a:pt x="4152900" y="1857375"/>
                </a:lnTo>
                <a:lnTo>
                  <a:pt x="4100449" y="1884426"/>
                </a:lnTo>
                <a:lnTo>
                  <a:pt x="4040124" y="1917700"/>
                </a:lnTo>
                <a:lnTo>
                  <a:pt x="3971925" y="1944751"/>
                </a:lnTo>
                <a:lnTo>
                  <a:pt x="3886200" y="1970151"/>
                </a:lnTo>
                <a:lnTo>
                  <a:pt x="3790950" y="1995551"/>
                </a:lnTo>
                <a:lnTo>
                  <a:pt x="3695700" y="2022475"/>
                </a:lnTo>
                <a:lnTo>
                  <a:pt x="3584575" y="2047875"/>
                </a:lnTo>
                <a:lnTo>
                  <a:pt x="3343275" y="2108200"/>
                </a:lnTo>
                <a:lnTo>
                  <a:pt x="3067050" y="2178050"/>
                </a:lnTo>
                <a:lnTo>
                  <a:pt x="2765425" y="2255837"/>
                </a:lnTo>
                <a:lnTo>
                  <a:pt x="2430526" y="2341562"/>
                </a:lnTo>
                <a:lnTo>
                  <a:pt x="2076450" y="2444750"/>
                </a:lnTo>
                <a:lnTo>
                  <a:pt x="1696974" y="2566987"/>
                </a:lnTo>
                <a:lnTo>
                  <a:pt x="1301750" y="2713037"/>
                </a:lnTo>
                <a:lnTo>
                  <a:pt x="879475" y="2886075"/>
                </a:lnTo>
                <a:lnTo>
                  <a:pt x="447675" y="3084512"/>
                </a:lnTo>
                <a:lnTo>
                  <a:pt x="0" y="3309937"/>
                </a:lnTo>
                <a:lnTo>
                  <a:pt x="241300" y="3309937"/>
                </a:lnTo>
                <a:lnTo>
                  <a:pt x="387350" y="3292475"/>
                </a:lnTo>
                <a:lnTo>
                  <a:pt x="612775" y="3162300"/>
                </a:lnTo>
                <a:lnTo>
                  <a:pt x="852424" y="3032125"/>
                </a:lnTo>
                <a:lnTo>
                  <a:pt x="1111250" y="2911475"/>
                </a:lnTo>
                <a:lnTo>
                  <a:pt x="1395349" y="2798762"/>
                </a:lnTo>
                <a:lnTo>
                  <a:pt x="1689100" y="2687637"/>
                </a:lnTo>
                <a:lnTo>
                  <a:pt x="1998599" y="2574925"/>
                </a:lnTo>
                <a:lnTo>
                  <a:pt x="2774950" y="2333625"/>
                </a:lnTo>
                <a:lnTo>
                  <a:pt x="2929001" y="2289175"/>
                </a:lnTo>
                <a:lnTo>
                  <a:pt x="3248025" y="2211387"/>
                </a:lnTo>
                <a:lnTo>
                  <a:pt x="3902075" y="2040001"/>
                </a:lnTo>
                <a:lnTo>
                  <a:pt x="4049649" y="2005076"/>
                </a:lnTo>
                <a:lnTo>
                  <a:pt x="4195826" y="1962150"/>
                </a:lnTo>
                <a:lnTo>
                  <a:pt x="4333875" y="1927225"/>
                </a:lnTo>
                <a:lnTo>
                  <a:pt x="4454525" y="1892300"/>
                </a:lnTo>
                <a:lnTo>
                  <a:pt x="4565650" y="1857375"/>
                </a:lnTo>
                <a:lnTo>
                  <a:pt x="4653026" y="1824101"/>
                </a:lnTo>
                <a:lnTo>
                  <a:pt x="4721225" y="1797050"/>
                </a:lnTo>
                <a:lnTo>
                  <a:pt x="4773676" y="1771650"/>
                </a:lnTo>
                <a:lnTo>
                  <a:pt x="4773676" y="1382649"/>
                </a:lnTo>
                <a:lnTo>
                  <a:pt x="4668901" y="1365250"/>
                </a:lnTo>
                <a:lnTo>
                  <a:pt x="4402201" y="1312799"/>
                </a:lnTo>
                <a:lnTo>
                  <a:pt x="4238625" y="1279525"/>
                </a:lnTo>
                <a:lnTo>
                  <a:pt x="4075049" y="1244600"/>
                </a:lnTo>
                <a:lnTo>
                  <a:pt x="3902075" y="1201674"/>
                </a:lnTo>
                <a:lnTo>
                  <a:pt x="3557524" y="1114425"/>
                </a:lnTo>
                <a:lnTo>
                  <a:pt x="3394075" y="1063625"/>
                </a:lnTo>
                <a:lnTo>
                  <a:pt x="3248025" y="1011174"/>
                </a:lnTo>
                <a:lnTo>
                  <a:pt x="3109976" y="958850"/>
                </a:lnTo>
                <a:lnTo>
                  <a:pt x="2989326" y="898525"/>
                </a:lnTo>
                <a:lnTo>
                  <a:pt x="2895600" y="847725"/>
                </a:lnTo>
                <a:lnTo>
                  <a:pt x="2825750" y="785749"/>
                </a:lnTo>
                <a:lnTo>
                  <a:pt x="2808351" y="752475"/>
                </a:lnTo>
                <a:lnTo>
                  <a:pt x="2790825" y="725424"/>
                </a:lnTo>
                <a:lnTo>
                  <a:pt x="2782951" y="692150"/>
                </a:lnTo>
                <a:lnTo>
                  <a:pt x="2790825" y="665099"/>
                </a:lnTo>
                <a:lnTo>
                  <a:pt x="2825750" y="604774"/>
                </a:lnTo>
                <a:lnTo>
                  <a:pt x="2878201" y="544449"/>
                </a:lnTo>
                <a:lnTo>
                  <a:pt x="2955925" y="501650"/>
                </a:lnTo>
                <a:lnTo>
                  <a:pt x="3049651" y="458724"/>
                </a:lnTo>
                <a:lnTo>
                  <a:pt x="3152775" y="423799"/>
                </a:lnTo>
                <a:lnTo>
                  <a:pt x="3273425" y="388874"/>
                </a:lnTo>
                <a:lnTo>
                  <a:pt x="3549650" y="338074"/>
                </a:lnTo>
                <a:lnTo>
                  <a:pt x="3859149" y="285750"/>
                </a:lnTo>
                <a:lnTo>
                  <a:pt x="4170299" y="250825"/>
                </a:lnTo>
                <a:lnTo>
                  <a:pt x="4487926" y="198374"/>
                </a:lnTo>
                <a:lnTo>
                  <a:pt x="4635500" y="172974"/>
                </a:lnTo>
                <a:lnTo>
                  <a:pt x="4773676" y="138049"/>
                </a:lnTo>
                <a:lnTo>
                  <a:pt x="4773676" y="0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45401" y="3678301"/>
            <a:ext cx="1981200" cy="85559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273675" y="2128901"/>
            <a:ext cx="2897251" cy="243992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9140825" cy="2819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5440" y="-507"/>
            <a:ext cx="8453119" cy="11501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E4E4F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8992" y="2479675"/>
            <a:ext cx="7947025" cy="2769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E4E4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3771" y="6627812"/>
            <a:ext cx="25971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3189">
              <a:lnSpc>
                <a:spcPts val="143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9210" y="2166569"/>
            <a:ext cx="694309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6000" b="1" dirty="0" smtClean="0">
                <a:solidFill>
                  <a:srgbClr val="E4E4FF"/>
                </a:solidFill>
                <a:latin typeface="Times New Roman"/>
                <a:cs typeface="Times New Roman"/>
              </a:rPr>
              <a:t>Operation Research</a:t>
            </a:r>
            <a:endParaRPr sz="6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97316" y="6500986"/>
            <a:ext cx="11048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4938" y="3874389"/>
            <a:ext cx="17545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FFFFFF"/>
                </a:solidFill>
                <a:latin typeface="Times New Roman"/>
                <a:cs typeface="Times New Roman"/>
              </a:rPr>
              <a:t>Lec.</a:t>
            </a:r>
            <a:r>
              <a:rPr sz="4400" b="1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525" dirty="0">
                <a:solidFill>
                  <a:srgbClr val="FFFFFF"/>
                </a:solidFill>
                <a:latin typeface="Times New Roman"/>
                <a:cs typeface="Times New Roman"/>
              </a:rPr>
              <a:t>#</a:t>
            </a:r>
            <a:r>
              <a:rPr sz="32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9325" y="1290637"/>
            <a:ext cx="7051675" cy="5262880"/>
            <a:chOff x="949325" y="1290637"/>
            <a:chExt cx="7051675" cy="5262880"/>
          </a:xfrm>
        </p:grpSpPr>
        <p:sp>
          <p:nvSpPr>
            <p:cNvPr id="3" name="object 3"/>
            <p:cNvSpPr/>
            <p:nvPr/>
          </p:nvSpPr>
          <p:spPr>
            <a:xfrm>
              <a:off x="2438400" y="1295400"/>
              <a:ext cx="4267200" cy="4191000"/>
            </a:xfrm>
            <a:custGeom>
              <a:avLst/>
              <a:gdLst/>
              <a:ahLst/>
              <a:cxnLst/>
              <a:rect l="l" t="t" r="r" b="b"/>
              <a:pathLst>
                <a:path w="4267200" h="4191000">
                  <a:moveTo>
                    <a:pt x="4267200" y="0"/>
                  </a:moveTo>
                  <a:lnTo>
                    <a:pt x="0" y="0"/>
                  </a:lnTo>
                  <a:lnTo>
                    <a:pt x="0" y="4191000"/>
                  </a:lnTo>
                  <a:lnTo>
                    <a:pt x="4267200" y="4191000"/>
                  </a:lnTo>
                  <a:lnTo>
                    <a:pt x="4267200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38400" y="1295400"/>
              <a:ext cx="4267200" cy="4191000"/>
            </a:xfrm>
            <a:custGeom>
              <a:avLst/>
              <a:gdLst/>
              <a:ahLst/>
              <a:cxnLst/>
              <a:rect l="l" t="t" r="r" b="b"/>
              <a:pathLst>
                <a:path w="4267200" h="4191000">
                  <a:moveTo>
                    <a:pt x="0" y="4191000"/>
                  </a:moveTo>
                  <a:lnTo>
                    <a:pt x="4267200" y="4191000"/>
                  </a:lnTo>
                  <a:lnTo>
                    <a:pt x="4267200" y="0"/>
                  </a:lnTo>
                  <a:lnTo>
                    <a:pt x="0" y="0"/>
                  </a:lnTo>
                  <a:lnTo>
                    <a:pt x="0" y="4191000"/>
                  </a:lnTo>
                  <a:close/>
                </a:path>
              </a:pathLst>
            </a:custGeom>
            <a:ln w="9525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9325" y="1828800"/>
              <a:ext cx="7051675" cy="47244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640204" y="23875"/>
            <a:ext cx="58604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CC00"/>
                </a:solidFill>
                <a:latin typeface="Arial"/>
                <a:cs typeface="Arial"/>
              </a:rPr>
              <a:t>The</a:t>
            </a:r>
            <a:r>
              <a:rPr sz="2800" b="1" spc="-11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CC00"/>
                </a:solidFill>
                <a:latin typeface="Arial"/>
                <a:cs typeface="Arial"/>
              </a:rPr>
              <a:t>Management</a:t>
            </a:r>
            <a:r>
              <a:rPr sz="2800" b="1" spc="-7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CC00"/>
                </a:solidFill>
                <a:latin typeface="Arial"/>
                <a:cs typeface="Arial"/>
              </a:rPr>
              <a:t>Science</a:t>
            </a:r>
            <a:r>
              <a:rPr sz="2800" b="1" spc="-11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CC00"/>
                </a:solidFill>
                <a:latin typeface="Arial"/>
                <a:cs typeface="Arial"/>
              </a:rPr>
              <a:t>Process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4800" y="533400"/>
            <a:ext cx="8534400" cy="0"/>
          </a:xfrm>
          <a:custGeom>
            <a:avLst/>
            <a:gdLst/>
            <a:ahLst/>
            <a:cxnLst/>
            <a:rect l="l" t="t" r="r" b="b"/>
            <a:pathLst>
              <a:path w="8534400">
                <a:moveTo>
                  <a:pt x="0" y="0"/>
                </a:moveTo>
                <a:lnTo>
                  <a:pt x="8534400" y="0"/>
                </a:lnTo>
              </a:path>
            </a:pathLst>
          </a:custGeom>
          <a:ln w="63500">
            <a:solidFill>
              <a:srgbClr val="00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3540" y="844042"/>
            <a:ext cx="7608570" cy="82105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70"/>
              </a:spcBef>
            </a:pPr>
            <a:r>
              <a:rPr sz="2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Management</a:t>
            </a:r>
            <a:r>
              <a:rPr sz="2800" b="1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science</a:t>
            </a:r>
            <a:r>
              <a:rPr sz="2800" b="1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none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400" b="1" u="none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u="none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b="1" u="none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u="none" dirty="0">
                <a:solidFill>
                  <a:srgbClr val="FFFFFF"/>
                </a:solidFill>
                <a:latin typeface="Times New Roman"/>
                <a:cs typeface="Times New Roman"/>
              </a:rPr>
              <a:t>scientific</a:t>
            </a:r>
            <a:r>
              <a:rPr sz="2400" b="1" u="none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u="none" spc="-25" dirty="0">
                <a:solidFill>
                  <a:srgbClr val="FFFFFF"/>
                </a:solidFill>
                <a:latin typeface="Times New Roman"/>
                <a:cs typeface="Times New Roman"/>
              </a:rPr>
              <a:t>approach</a:t>
            </a:r>
            <a:r>
              <a:rPr sz="2400" b="1" u="none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u="none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400" b="1" u="none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solving </a:t>
            </a:r>
            <a:r>
              <a:rPr sz="2400" b="1" u="none" dirty="0">
                <a:solidFill>
                  <a:srgbClr val="FFFFFF"/>
                </a:solidFill>
                <a:latin typeface="Times New Roman"/>
                <a:cs typeface="Times New Roman"/>
              </a:rPr>
              <a:t>management</a:t>
            </a:r>
            <a:r>
              <a:rPr sz="2400" b="1" u="none" spc="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problems.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3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50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CC00"/>
                </a:solidFill>
                <a:latin typeface="Arial"/>
                <a:cs typeface="Arial"/>
              </a:rPr>
              <a:t>Steps</a:t>
            </a:r>
            <a:r>
              <a:rPr sz="2800" spc="-9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CC00"/>
                </a:solidFill>
                <a:latin typeface="Arial"/>
                <a:cs typeface="Arial"/>
              </a:rPr>
              <a:t>in</a:t>
            </a:r>
            <a:r>
              <a:rPr sz="2800" spc="-10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CC00"/>
                </a:solidFill>
                <a:latin typeface="Arial"/>
                <a:cs typeface="Arial"/>
              </a:rPr>
              <a:t>the</a:t>
            </a:r>
            <a:r>
              <a:rPr sz="2800" spc="-8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CC00"/>
                </a:solidFill>
                <a:latin typeface="Arial"/>
                <a:cs typeface="Arial"/>
              </a:rPr>
              <a:t>Management</a:t>
            </a:r>
            <a:r>
              <a:rPr sz="2800" spc="-7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CC00"/>
                </a:solidFill>
                <a:latin typeface="Arial"/>
                <a:cs typeface="Arial"/>
              </a:rPr>
              <a:t>Science</a:t>
            </a:r>
            <a:r>
              <a:rPr sz="2800" spc="-8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CC00"/>
                </a:solidFill>
                <a:latin typeface="Arial"/>
                <a:cs typeface="Arial"/>
              </a:rPr>
              <a:t>Process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" y="1350263"/>
            <a:ext cx="202691" cy="2133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" y="2209800"/>
            <a:ext cx="202691" cy="2133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50240" y="1244853"/>
            <a:ext cx="8213090" cy="1617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874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Observation</a:t>
            </a:r>
            <a:r>
              <a:rPr sz="2400" b="1" spc="-4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-</a:t>
            </a:r>
            <a:r>
              <a:rPr sz="2400" spc="-3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E4FF"/>
                </a:solidFill>
                <a:latin typeface="Arial"/>
                <a:cs typeface="Arial"/>
              </a:rPr>
              <a:t>Identification</a:t>
            </a:r>
            <a:r>
              <a:rPr sz="2400" spc="-3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of</a:t>
            </a:r>
            <a:r>
              <a:rPr sz="2400" spc="-3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a</a:t>
            </a:r>
            <a:r>
              <a:rPr sz="2400" spc="-4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problem</a:t>
            </a:r>
            <a:r>
              <a:rPr sz="2400" spc="-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that</a:t>
            </a:r>
            <a:r>
              <a:rPr sz="2400" spc="-4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exists</a:t>
            </a:r>
            <a:r>
              <a:rPr sz="2400" spc="-2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(or</a:t>
            </a:r>
            <a:r>
              <a:rPr sz="2400" spc="-25" dirty="0">
                <a:solidFill>
                  <a:srgbClr val="E4E4FF"/>
                </a:solidFill>
                <a:latin typeface="Arial"/>
                <a:cs typeface="Arial"/>
              </a:rPr>
              <a:t> may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occur</a:t>
            </a:r>
            <a:r>
              <a:rPr sz="2400" spc="-3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soon)</a:t>
            </a:r>
            <a:r>
              <a:rPr sz="2400" spc="-2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in</a:t>
            </a:r>
            <a:r>
              <a:rPr sz="2400" spc="-2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a</a:t>
            </a:r>
            <a:r>
              <a:rPr sz="2400" spc="-4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system</a:t>
            </a:r>
            <a:r>
              <a:rPr sz="2400" spc="-3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or</a:t>
            </a:r>
            <a:r>
              <a:rPr sz="2400" spc="-3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E4FF"/>
                </a:solidFill>
                <a:latin typeface="Arial"/>
                <a:cs typeface="Arial"/>
              </a:rPr>
              <a:t>organization.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Definition</a:t>
            </a:r>
            <a:r>
              <a:rPr sz="2400" b="1" spc="-7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of</a:t>
            </a:r>
            <a:r>
              <a:rPr sz="2400" b="1" spc="-4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the</a:t>
            </a:r>
            <a:r>
              <a:rPr sz="2400" b="1" spc="-5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Problem</a:t>
            </a:r>
            <a:r>
              <a:rPr sz="2400" b="1" spc="-3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-</a:t>
            </a:r>
            <a:r>
              <a:rPr sz="2400" spc="-4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problem</a:t>
            </a:r>
            <a:r>
              <a:rPr sz="2400" spc="-3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must</a:t>
            </a:r>
            <a:r>
              <a:rPr sz="2400" spc="-3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be</a:t>
            </a:r>
            <a:r>
              <a:rPr sz="2400" spc="-3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clearly</a:t>
            </a:r>
            <a:r>
              <a:rPr sz="2400" spc="-3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E4E4FF"/>
                </a:solidFill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consistently</a:t>
            </a:r>
            <a:r>
              <a:rPr sz="2400" spc="-9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defined,</a:t>
            </a:r>
            <a:r>
              <a:rPr sz="2400" spc="-8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showing</a:t>
            </a:r>
            <a:r>
              <a:rPr sz="2400" spc="-8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its</a:t>
            </a:r>
            <a:r>
              <a:rPr sz="2400" spc="-10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boundaries</a:t>
            </a:r>
            <a:r>
              <a:rPr sz="2400" spc="-8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and</a:t>
            </a:r>
            <a:r>
              <a:rPr sz="2400" spc="-9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E4FF"/>
                </a:solidFill>
                <a:latin typeface="Arial"/>
                <a:cs typeface="Arial"/>
              </a:rPr>
              <a:t>interactions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" y="3435096"/>
            <a:ext cx="202691" cy="2133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" y="4660391"/>
            <a:ext cx="202691" cy="2133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" y="5519928"/>
            <a:ext cx="202691" cy="21335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50240" y="2708274"/>
            <a:ext cx="8221980" cy="345059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with</a:t>
            </a:r>
            <a:r>
              <a:rPr sz="2400" spc="-5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the</a:t>
            </a:r>
            <a:r>
              <a:rPr sz="2400" spc="-5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objectives</a:t>
            </a:r>
            <a:r>
              <a:rPr sz="2400" spc="-4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of</a:t>
            </a:r>
            <a:r>
              <a:rPr sz="2400" spc="-5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the</a:t>
            </a:r>
            <a:r>
              <a:rPr sz="2400" spc="-6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E4FF"/>
                </a:solidFill>
                <a:latin typeface="Arial"/>
                <a:cs typeface="Arial"/>
              </a:rPr>
              <a:t>organization.</a:t>
            </a:r>
            <a:endParaRPr sz="2400">
              <a:latin typeface="Arial"/>
              <a:cs typeface="Arial"/>
            </a:endParaRPr>
          </a:p>
          <a:p>
            <a:pPr marL="12700" marR="187960">
              <a:lnSpc>
                <a:spcPct val="100000"/>
              </a:lnSpc>
              <a:spcBef>
                <a:spcPts val="1010"/>
              </a:spcBef>
            </a:pP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Model</a:t>
            </a:r>
            <a:r>
              <a:rPr sz="2400" b="1" spc="-7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Construction</a:t>
            </a:r>
            <a:r>
              <a:rPr sz="2400" b="1" spc="-6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-</a:t>
            </a:r>
            <a:r>
              <a:rPr sz="2400" spc="-5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Development</a:t>
            </a:r>
            <a:r>
              <a:rPr sz="2400" spc="-2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of</a:t>
            </a:r>
            <a:r>
              <a:rPr sz="2400" spc="-7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the</a:t>
            </a:r>
            <a:r>
              <a:rPr sz="2400" spc="-5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E4FF"/>
                </a:solidFill>
                <a:latin typeface="Arial"/>
                <a:cs typeface="Arial"/>
              </a:rPr>
              <a:t>functional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mathematical</a:t>
            </a:r>
            <a:r>
              <a:rPr sz="2400" spc="-10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relationships</a:t>
            </a:r>
            <a:r>
              <a:rPr sz="2400" spc="-7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that</a:t>
            </a:r>
            <a:r>
              <a:rPr sz="2400" spc="-10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describe</a:t>
            </a:r>
            <a:r>
              <a:rPr sz="2400" spc="-9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the</a:t>
            </a:r>
            <a:r>
              <a:rPr sz="2400" spc="-11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E4FF"/>
                </a:solidFill>
                <a:latin typeface="Arial"/>
                <a:cs typeface="Arial"/>
              </a:rPr>
              <a:t>decision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variables,</a:t>
            </a:r>
            <a:r>
              <a:rPr sz="2400" spc="-7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objective</a:t>
            </a:r>
            <a:r>
              <a:rPr sz="2400" spc="-7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function</a:t>
            </a:r>
            <a:r>
              <a:rPr sz="2400" spc="-7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and</a:t>
            </a:r>
            <a:r>
              <a:rPr sz="2400" spc="-9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constraints</a:t>
            </a:r>
            <a:r>
              <a:rPr sz="2400" spc="-7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of</a:t>
            </a:r>
            <a:r>
              <a:rPr sz="2400" spc="-8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the</a:t>
            </a:r>
            <a:r>
              <a:rPr sz="2400" spc="-9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E4FF"/>
                </a:solidFill>
                <a:latin typeface="Arial"/>
                <a:cs typeface="Arial"/>
              </a:rPr>
              <a:t>problem.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10"/>
              </a:spcBef>
            </a:pP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Model</a:t>
            </a:r>
            <a:r>
              <a:rPr sz="2400" b="1" spc="-8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Solution</a:t>
            </a:r>
            <a:r>
              <a:rPr sz="2400" b="1" spc="-9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-</a:t>
            </a:r>
            <a:r>
              <a:rPr sz="2400" spc="-6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Models</a:t>
            </a:r>
            <a:r>
              <a:rPr sz="2400" spc="-5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solved</a:t>
            </a:r>
            <a:r>
              <a:rPr sz="2400" spc="-4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using</a:t>
            </a:r>
            <a:r>
              <a:rPr sz="2400" spc="-5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management</a:t>
            </a:r>
            <a:r>
              <a:rPr sz="2400" spc="-5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E4FF"/>
                </a:solidFill>
                <a:latin typeface="Arial"/>
                <a:cs typeface="Arial"/>
              </a:rPr>
              <a:t>science techniques.</a:t>
            </a:r>
            <a:endParaRPr sz="2400">
              <a:latin typeface="Arial"/>
              <a:cs typeface="Arial"/>
            </a:endParaRPr>
          </a:p>
          <a:p>
            <a:pPr marL="12700" marR="803275">
              <a:lnSpc>
                <a:spcPts val="2770"/>
              </a:lnSpc>
              <a:spcBef>
                <a:spcPts val="1195"/>
              </a:spcBef>
            </a:pP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Model</a:t>
            </a:r>
            <a:r>
              <a:rPr sz="2400" b="1" spc="-6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Implementation</a:t>
            </a:r>
            <a:r>
              <a:rPr sz="2400" b="1" spc="-5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-</a:t>
            </a:r>
            <a:r>
              <a:rPr sz="2400" spc="-16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Actual</a:t>
            </a:r>
            <a:r>
              <a:rPr sz="2400" spc="-3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use</a:t>
            </a:r>
            <a:r>
              <a:rPr sz="2400" spc="-3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of</a:t>
            </a:r>
            <a:r>
              <a:rPr sz="2400" spc="-3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the</a:t>
            </a:r>
            <a:r>
              <a:rPr sz="2400" spc="-4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model</a:t>
            </a:r>
            <a:r>
              <a:rPr sz="2400" spc="-3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or</a:t>
            </a:r>
            <a:r>
              <a:rPr sz="2400" spc="-3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E4E4FF"/>
                </a:solidFill>
                <a:latin typeface="Arial"/>
                <a:cs typeface="Arial"/>
              </a:rPr>
              <a:t>its </a:t>
            </a:r>
            <a:r>
              <a:rPr sz="2400" spc="-10" dirty="0">
                <a:solidFill>
                  <a:srgbClr val="E4E4FF"/>
                </a:solidFill>
                <a:latin typeface="Arial"/>
                <a:cs typeface="Arial"/>
              </a:rPr>
              <a:t>solution</a:t>
            </a:r>
            <a:r>
              <a:rPr sz="2400" spc="-10" dirty="0">
                <a:solidFill>
                  <a:srgbClr val="E4E4FF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4800" y="990600"/>
            <a:ext cx="8534400" cy="0"/>
          </a:xfrm>
          <a:custGeom>
            <a:avLst/>
            <a:gdLst/>
            <a:ahLst/>
            <a:cxnLst/>
            <a:rect l="l" t="t" r="r" b="b"/>
            <a:pathLst>
              <a:path w="8534400">
                <a:moveTo>
                  <a:pt x="0" y="0"/>
                </a:moveTo>
                <a:lnTo>
                  <a:pt x="8534400" y="0"/>
                </a:lnTo>
              </a:path>
            </a:pathLst>
          </a:custGeom>
          <a:ln w="63500">
            <a:solidFill>
              <a:srgbClr val="00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3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504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FFCC00"/>
                </a:solidFill>
                <a:latin typeface="Arial"/>
                <a:cs typeface="Arial"/>
              </a:rPr>
              <a:t>Break-</a:t>
            </a:r>
            <a:r>
              <a:rPr sz="2800" dirty="0">
                <a:solidFill>
                  <a:srgbClr val="FFCC00"/>
                </a:solidFill>
                <a:latin typeface="Arial"/>
                <a:cs typeface="Arial"/>
              </a:rPr>
              <a:t>Even</a:t>
            </a:r>
            <a:r>
              <a:rPr sz="2800" spc="-12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CC00"/>
                </a:solidFill>
                <a:latin typeface="Arial"/>
                <a:cs typeface="Arial"/>
              </a:rPr>
              <a:t>Analysis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1295400"/>
            <a:ext cx="8534400" cy="0"/>
          </a:xfrm>
          <a:custGeom>
            <a:avLst/>
            <a:gdLst/>
            <a:ahLst/>
            <a:cxnLst/>
            <a:rect l="l" t="t" r="r" b="b"/>
            <a:pathLst>
              <a:path w="8534400">
                <a:moveTo>
                  <a:pt x="0" y="0"/>
                </a:moveTo>
                <a:lnTo>
                  <a:pt x="8534400" y="0"/>
                </a:lnTo>
              </a:path>
            </a:pathLst>
          </a:custGeom>
          <a:ln w="63500">
            <a:solidFill>
              <a:srgbClr val="00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077" y="2566416"/>
            <a:ext cx="202691" cy="2133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077" y="3919728"/>
            <a:ext cx="202691" cy="21336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96264" y="2461386"/>
            <a:ext cx="7263765" cy="174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C00"/>
                </a:solidFill>
                <a:latin typeface="Arial"/>
                <a:cs typeface="Arial"/>
              </a:rPr>
              <a:t>The</a:t>
            </a:r>
            <a:r>
              <a:rPr sz="2400" spc="-6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CC00"/>
                </a:solidFill>
                <a:latin typeface="Arial"/>
                <a:cs typeface="Arial"/>
              </a:rPr>
              <a:t>volume</a:t>
            </a:r>
            <a:r>
              <a:rPr sz="2400" spc="-4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CC00"/>
                </a:solidFill>
                <a:latin typeface="Arial"/>
                <a:cs typeface="Arial"/>
              </a:rPr>
              <a:t>at</a:t>
            </a:r>
            <a:r>
              <a:rPr sz="2400" spc="-5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CC00"/>
                </a:solidFill>
                <a:latin typeface="Arial"/>
                <a:cs typeface="Arial"/>
              </a:rPr>
              <a:t>which</a:t>
            </a:r>
            <a:r>
              <a:rPr sz="2400" spc="-3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total</a:t>
            </a:r>
            <a:r>
              <a:rPr sz="24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revenue</a:t>
            </a:r>
            <a:r>
              <a:rPr sz="24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CC00"/>
                </a:solidFill>
                <a:latin typeface="Arial"/>
                <a:cs typeface="Arial"/>
              </a:rPr>
              <a:t>equals</a:t>
            </a:r>
            <a:r>
              <a:rPr sz="2400" spc="-3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total</a:t>
            </a:r>
            <a:r>
              <a:rPr sz="24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cost</a:t>
            </a:r>
            <a:r>
              <a:rPr sz="24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CC00"/>
                </a:solidFill>
                <a:latin typeface="Arial"/>
                <a:cs typeface="Arial"/>
              </a:rPr>
              <a:t>is </a:t>
            </a:r>
            <a:r>
              <a:rPr sz="2400" dirty="0">
                <a:solidFill>
                  <a:srgbClr val="FFCC00"/>
                </a:solidFill>
                <a:latin typeface="Arial"/>
                <a:cs typeface="Arial"/>
              </a:rPr>
              <a:t>called</a:t>
            </a:r>
            <a:r>
              <a:rPr sz="2400" spc="-3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CC00"/>
                </a:solidFill>
                <a:latin typeface="Arial"/>
                <a:cs typeface="Arial"/>
              </a:rPr>
              <a:t>the</a:t>
            </a:r>
            <a:r>
              <a:rPr sz="2400" spc="-5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u="sng" spc="-25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break-</a:t>
            </a:r>
            <a:r>
              <a:rPr sz="2400" b="1" u="sng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even</a:t>
            </a:r>
            <a:r>
              <a:rPr sz="2400" b="1" u="sng" spc="-3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FFCC00"/>
                </a:solidFill>
                <a:uFill>
                  <a:solidFill>
                    <a:srgbClr val="FFCC00"/>
                  </a:solidFill>
                </a:uFill>
                <a:latin typeface="Arial"/>
                <a:cs typeface="Arial"/>
              </a:rPr>
              <a:t>point</a:t>
            </a:r>
            <a:r>
              <a:rPr sz="2400" u="none" spc="-10" dirty="0">
                <a:solidFill>
                  <a:srgbClr val="FFCC0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35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CC00"/>
                </a:solidFill>
                <a:latin typeface="Arial"/>
                <a:cs typeface="Arial"/>
              </a:rPr>
              <a:t>Profit</a:t>
            </a:r>
            <a:r>
              <a:rPr sz="2400" spc="-2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CC00"/>
                </a:solidFill>
                <a:latin typeface="Arial"/>
                <a:cs typeface="Arial"/>
              </a:rPr>
              <a:t>at</a:t>
            </a:r>
            <a:r>
              <a:rPr sz="2400" spc="-20" dirty="0">
                <a:solidFill>
                  <a:srgbClr val="FFCC00"/>
                </a:solidFill>
                <a:latin typeface="Arial"/>
                <a:cs typeface="Arial"/>
              </a:rPr>
              <a:t> break-</a:t>
            </a:r>
            <a:r>
              <a:rPr sz="2400" dirty="0">
                <a:solidFill>
                  <a:srgbClr val="FFCC00"/>
                </a:solidFill>
                <a:latin typeface="Arial"/>
                <a:cs typeface="Arial"/>
              </a:rPr>
              <a:t>even</a:t>
            </a:r>
            <a:r>
              <a:rPr sz="2400" spc="-2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CC00"/>
                </a:solidFill>
                <a:latin typeface="Arial"/>
                <a:cs typeface="Arial"/>
              </a:rPr>
              <a:t>point</a:t>
            </a:r>
            <a:r>
              <a:rPr sz="2400" spc="-1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CC00"/>
                </a:solidFill>
                <a:latin typeface="Arial"/>
                <a:cs typeface="Arial"/>
              </a:rPr>
              <a:t>is</a:t>
            </a:r>
            <a:r>
              <a:rPr sz="2400" spc="-2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zero</a:t>
            </a:r>
            <a:r>
              <a:rPr sz="2400" u="none" spc="-10" dirty="0">
                <a:solidFill>
                  <a:srgbClr val="FFCC00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3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7294" rIns="0" bIns="0" rtlCol="0">
            <a:spAutoFit/>
          </a:bodyPr>
          <a:lstStyle/>
          <a:p>
            <a:pPr marL="274955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Components</a:t>
            </a:r>
            <a:r>
              <a:rPr sz="4000" spc="35" dirty="0"/>
              <a:t> </a:t>
            </a:r>
            <a:r>
              <a:rPr sz="4000" dirty="0"/>
              <a:t>of</a:t>
            </a:r>
            <a:r>
              <a:rPr sz="4000" spc="-15" dirty="0"/>
              <a:t> </a:t>
            </a:r>
            <a:r>
              <a:rPr sz="4000" spc="-105" dirty="0"/>
              <a:t>Break-</a:t>
            </a:r>
            <a:r>
              <a:rPr sz="4000" dirty="0"/>
              <a:t>Even</a:t>
            </a:r>
            <a:r>
              <a:rPr sz="4000" spc="10" dirty="0"/>
              <a:t> </a:t>
            </a:r>
            <a:r>
              <a:rPr sz="4000" spc="-10" dirty="0"/>
              <a:t>Analysis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3443478" y="6627812"/>
            <a:ext cx="225742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Chapter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1-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Science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3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99945"/>
            <a:ext cx="7526655" cy="2757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1630">
              <a:lnSpc>
                <a:spcPct val="100000"/>
              </a:lnSpc>
              <a:spcBef>
                <a:spcPts val="105"/>
              </a:spcBef>
              <a:buClr>
                <a:srgbClr val="FFCC00"/>
              </a:buClr>
              <a:buSzPct val="70312"/>
              <a:buFont typeface="DejaVu Sans"/>
              <a:buChar char="◼"/>
              <a:tabLst>
                <a:tab pos="35560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2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three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components</a:t>
            </a:r>
            <a:r>
              <a:rPr sz="32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break-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even</a:t>
            </a:r>
            <a:r>
              <a:rPr sz="32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analysis 	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endParaRPr sz="3200">
              <a:latin typeface="Times New Roman"/>
              <a:cs typeface="Times New Roman"/>
            </a:endParaRPr>
          </a:p>
          <a:p>
            <a:pPr marL="354330" indent="-341630">
              <a:lnSpc>
                <a:spcPct val="100000"/>
              </a:lnSpc>
              <a:spcBef>
                <a:spcPts val="770"/>
              </a:spcBef>
              <a:buClr>
                <a:srgbClr val="FFCC00"/>
              </a:buClr>
              <a:buSzPct val="70312"/>
              <a:buFont typeface="DejaVu Sans"/>
              <a:buChar char="◼"/>
              <a:tabLst>
                <a:tab pos="354330" algn="l"/>
              </a:tabLst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volume,</a:t>
            </a:r>
            <a:endParaRPr sz="3200">
              <a:latin typeface="Times New Roman"/>
              <a:cs typeface="Times New Roman"/>
            </a:endParaRPr>
          </a:p>
          <a:p>
            <a:pPr marL="354330" indent="-341630">
              <a:lnSpc>
                <a:spcPct val="100000"/>
              </a:lnSpc>
              <a:spcBef>
                <a:spcPts val="765"/>
              </a:spcBef>
              <a:buClr>
                <a:srgbClr val="FFCC00"/>
              </a:buClr>
              <a:buSzPct val="70312"/>
              <a:buFont typeface="DejaVu Sans"/>
              <a:buChar char="◼"/>
              <a:tabLst>
                <a:tab pos="354330" algn="l"/>
              </a:tabLst>
            </a:pP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cost,</a:t>
            </a:r>
            <a:endParaRPr sz="3200">
              <a:latin typeface="Times New Roman"/>
              <a:cs typeface="Times New Roman"/>
            </a:endParaRPr>
          </a:p>
          <a:p>
            <a:pPr marL="354330" indent="-341630">
              <a:lnSpc>
                <a:spcPct val="100000"/>
              </a:lnSpc>
              <a:spcBef>
                <a:spcPts val="770"/>
              </a:spcBef>
              <a:buClr>
                <a:srgbClr val="FFCC00"/>
              </a:buClr>
              <a:buSzPct val="70312"/>
              <a:buFont typeface="DejaVu Sans"/>
              <a:buChar char="◼"/>
              <a:tabLst>
                <a:tab pos="35433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profit.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6293" rIns="0" bIns="0" rtlCol="0">
            <a:spAutoFit/>
          </a:bodyPr>
          <a:lstStyle/>
          <a:p>
            <a:pPr marL="3570604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Costs</a:t>
            </a:r>
          </a:p>
        </p:txBody>
      </p:sp>
      <p:sp>
        <p:nvSpPr>
          <p:cNvPr id="3" name="object 3"/>
          <p:cNvSpPr/>
          <p:nvPr/>
        </p:nvSpPr>
        <p:spPr>
          <a:xfrm>
            <a:off x="891539" y="2817876"/>
            <a:ext cx="2052955" cy="20320"/>
          </a:xfrm>
          <a:custGeom>
            <a:avLst/>
            <a:gdLst/>
            <a:ahLst/>
            <a:cxnLst/>
            <a:rect l="l" t="t" r="r" b="b"/>
            <a:pathLst>
              <a:path w="2052955" h="20319">
                <a:moveTo>
                  <a:pt x="2052827" y="0"/>
                </a:moveTo>
                <a:lnTo>
                  <a:pt x="0" y="0"/>
                </a:lnTo>
                <a:lnTo>
                  <a:pt x="0" y="19812"/>
                </a:lnTo>
                <a:lnTo>
                  <a:pt x="2052827" y="19812"/>
                </a:lnTo>
                <a:lnTo>
                  <a:pt x="205282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295145"/>
            <a:ext cx="7883525" cy="5099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274955" indent="-341630">
              <a:lnSpc>
                <a:spcPct val="100000"/>
              </a:lnSpc>
              <a:spcBef>
                <a:spcPts val="105"/>
              </a:spcBef>
              <a:buClr>
                <a:srgbClr val="FFCC00"/>
              </a:buClr>
              <a:buSzPct val="70312"/>
              <a:buFont typeface="DejaVu Sans"/>
              <a:buChar char="◼"/>
              <a:tabLst>
                <a:tab pos="355600" algn="l"/>
              </a:tabLst>
            </a:pP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Two</a:t>
            </a:r>
            <a:r>
              <a:rPr sz="3200" spc="-1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Times New Roman"/>
                <a:cs typeface="Times New Roman"/>
              </a:rPr>
              <a:t>type</a:t>
            </a:r>
            <a:r>
              <a:rPr sz="32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costs</a:t>
            </a:r>
            <a:r>
              <a:rPr sz="32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3200" spc="-1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30" dirty="0">
                <a:solidFill>
                  <a:srgbClr val="FFFFFF"/>
                </a:solidFill>
                <a:latin typeface="Times New Roman"/>
                <a:cs typeface="Times New Roman"/>
              </a:rPr>
              <a:t>typically</a:t>
            </a:r>
            <a:r>
              <a:rPr sz="32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fixed</a:t>
            </a:r>
            <a:r>
              <a:rPr sz="32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costs</a:t>
            </a:r>
            <a:r>
              <a:rPr sz="3200" spc="-1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	</a:t>
            </a:r>
            <a:r>
              <a:rPr sz="3200" spc="-9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r>
              <a:rPr sz="32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costs.</a:t>
            </a:r>
            <a:endParaRPr sz="3200">
              <a:latin typeface="Times New Roman"/>
              <a:cs typeface="Times New Roman"/>
            </a:endParaRPr>
          </a:p>
          <a:p>
            <a:pPr marL="354330" marR="537845" indent="-341630">
              <a:lnSpc>
                <a:spcPct val="100000"/>
              </a:lnSpc>
              <a:spcBef>
                <a:spcPts val="770"/>
              </a:spcBef>
              <a:buClr>
                <a:srgbClr val="FFCC00"/>
              </a:buClr>
              <a:buSzPct val="70312"/>
              <a:buFont typeface="DejaVu Sans"/>
              <a:buChar char="◼"/>
              <a:tabLst>
                <a:tab pos="355600" algn="l"/>
              </a:tabLst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Fixed</a:t>
            </a:r>
            <a:r>
              <a:rPr sz="32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costs</a:t>
            </a: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3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imes New Roman"/>
                <a:cs typeface="Times New Roman"/>
              </a:rPr>
              <a:t>independent</a:t>
            </a:r>
            <a:r>
              <a:rPr sz="3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volume</a:t>
            </a:r>
            <a:r>
              <a:rPr sz="3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	</a:t>
            </a:r>
            <a:r>
              <a:rPr sz="3200" spc="-40" dirty="0">
                <a:solidFill>
                  <a:srgbClr val="FFFFFF"/>
                </a:solidFill>
                <a:latin typeface="Times New Roman"/>
                <a:cs typeface="Times New Roman"/>
              </a:rPr>
              <a:t>remain</a:t>
            </a:r>
            <a:r>
              <a:rPr sz="3200" spc="-1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  <a:p>
            <a:pPr marL="354330" marR="5080" indent="-341630">
              <a:lnSpc>
                <a:spcPct val="100000"/>
              </a:lnSpc>
              <a:spcBef>
                <a:spcPts val="770"/>
              </a:spcBef>
              <a:buClr>
                <a:srgbClr val="FFCC00"/>
              </a:buClr>
              <a:buSzPct val="70312"/>
              <a:buFont typeface="DejaVu Sans"/>
              <a:buChar char="◼"/>
              <a:tabLst>
                <a:tab pos="355600" algn="l"/>
              </a:tabLst>
            </a:pPr>
            <a:r>
              <a:rPr sz="3200" b="1" u="sng" spc="-8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Variable</a:t>
            </a:r>
            <a:r>
              <a:rPr sz="3200" b="1" u="sng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costs</a:t>
            </a:r>
            <a:r>
              <a:rPr sz="3200" b="1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u="none" spc="-3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3200" u="none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spc="-25" dirty="0">
                <a:solidFill>
                  <a:srgbClr val="FFFFFF"/>
                </a:solidFill>
                <a:latin typeface="Times New Roman"/>
                <a:cs typeface="Times New Roman"/>
              </a:rPr>
              <a:t>determined</a:t>
            </a:r>
            <a:r>
              <a:rPr sz="3200" u="none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u="none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200" u="none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spc="-45" dirty="0">
                <a:solidFill>
                  <a:srgbClr val="FFFFFF"/>
                </a:solidFill>
                <a:latin typeface="Times New Roman"/>
                <a:cs typeface="Times New Roman"/>
              </a:rPr>
              <a:t>per-</a:t>
            </a:r>
            <a:r>
              <a:rPr sz="3200" u="none" spc="-20" dirty="0">
                <a:solidFill>
                  <a:srgbClr val="FFFFFF"/>
                </a:solidFill>
                <a:latin typeface="Times New Roman"/>
                <a:cs typeface="Times New Roman"/>
              </a:rPr>
              <a:t>unit 	</a:t>
            </a:r>
            <a:r>
              <a:rPr sz="3200" u="none" spc="-75" dirty="0">
                <a:solidFill>
                  <a:srgbClr val="FFFFFF"/>
                </a:solidFill>
                <a:latin typeface="Times New Roman"/>
                <a:cs typeface="Times New Roman"/>
              </a:rPr>
              <a:t>basis.</a:t>
            </a:r>
            <a:r>
              <a:rPr sz="3200" u="none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Thus,</a:t>
            </a:r>
            <a:r>
              <a:rPr sz="3200" u="none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b="1" u="none" spc="-10" dirty="0">
                <a:solidFill>
                  <a:srgbClr val="FF0000"/>
                </a:solidFill>
                <a:latin typeface="Times New Roman"/>
                <a:cs typeface="Times New Roman"/>
              </a:rPr>
              <a:t>total</a:t>
            </a:r>
            <a:r>
              <a:rPr sz="3200" b="1" u="none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u="none" spc="-55" dirty="0">
                <a:solidFill>
                  <a:srgbClr val="FF0000"/>
                </a:solidFill>
                <a:latin typeface="Times New Roman"/>
                <a:cs typeface="Times New Roman"/>
              </a:rPr>
              <a:t>variable</a:t>
            </a:r>
            <a:r>
              <a:rPr sz="3200" b="1" u="none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u="none" dirty="0">
                <a:solidFill>
                  <a:srgbClr val="FF0000"/>
                </a:solidFill>
                <a:latin typeface="Times New Roman"/>
                <a:cs typeface="Times New Roman"/>
              </a:rPr>
              <a:t>costs</a:t>
            </a:r>
            <a:r>
              <a:rPr sz="3200" b="1" u="none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depend</a:t>
            </a:r>
            <a:r>
              <a:rPr sz="3200" u="none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200" u="none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spc="-25" dirty="0">
                <a:solidFill>
                  <a:srgbClr val="FFFFFF"/>
                </a:solidFill>
                <a:latin typeface="Times New Roman"/>
                <a:cs typeface="Times New Roman"/>
              </a:rPr>
              <a:t>the 	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3200" u="none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200" u="none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units</a:t>
            </a:r>
            <a:r>
              <a:rPr sz="3200" u="none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produced.</a:t>
            </a:r>
            <a:r>
              <a:rPr sz="3200" u="none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spc="-90" dirty="0">
                <a:solidFill>
                  <a:srgbClr val="FFFFFF"/>
                </a:solidFill>
                <a:latin typeface="Times New Roman"/>
                <a:cs typeface="Times New Roman"/>
              </a:rPr>
              <a:t>Variable</a:t>
            </a:r>
            <a:r>
              <a:rPr sz="3200" u="none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costs 	</a:t>
            </a:r>
            <a:r>
              <a:rPr sz="3200" u="none" spc="-55" dirty="0">
                <a:solidFill>
                  <a:srgbClr val="FFFFFF"/>
                </a:solidFill>
                <a:latin typeface="Times New Roman"/>
                <a:cs typeface="Times New Roman"/>
              </a:rPr>
              <a:t>include</a:t>
            </a:r>
            <a:r>
              <a:rPr sz="3200" u="none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such</a:t>
            </a:r>
            <a:r>
              <a:rPr sz="3200" u="none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spc="-50" dirty="0">
                <a:solidFill>
                  <a:srgbClr val="FFFFFF"/>
                </a:solidFill>
                <a:latin typeface="Times New Roman"/>
                <a:cs typeface="Times New Roman"/>
              </a:rPr>
              <a:t>items</a:t>
            </a:r>
            <a:r>
              <a:rPr sz="3200" u="none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spc="-30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3200" u="none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spc="-70" dirty="0">
                <a:solidFill>
                  <a:srgbClr val="FF0000"/>
                </a:solidFill>
                <a:latin typeface="Times New Roman"/>
                <a:cs typeface="Times New Roman"/>
              </a:rPr>
              <a:t>raw</a:t>
            </a:r>
            <a:r>
              <a:rPr sz="3200" u="none" spc="-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u="none" spc="-75" dirty="0">
                <a:solidFill>
                  <a:srgbClr val="FF0000"/>
                </a:solidFill>
                <a:latin typeface="Times New Roman"/>
                <a:cs typeface="Times New Roman"/>
              </a:rPr>
              <a:t>materials</a:t>
            </a:r>
            <a:r>
              <a:rPr sz="3200" u="none" spc="-1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u="none" spc="-25" dirty="0">
                <a:solidFill>
                  <a:srgbClr val="FFFFFF"/>
                </a:solidFill>
                <a:latin typeface="Times New Roman"/>
                <a:cs typeface="Times New Roman"/>
              </a:rPr>
              <a:t>and 	</a:t>
            </a:r>
            <a:r>
              <a:rPr sz="3200" u="none" spc="-50" dirty="0">
                <a:solidFill>
                  <a:srgbClr val="FF0000"/>
                </a:solidFill>
                <a:latin typeface="Times New Roman"/>
                <a:cs typeface="Times New Roman"/>
              </a:rPr>
              <a:t>resources</a:t>
            </a:r>
            <a:r>
              <a:rPr sz="3200" u="none" spc="-5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3200" u="none" spc="-1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spc="-25" dirty="0">
                <a:solidFill>
                  <a:srgbClr val="FFFFFF"/>
                </a:solidFill>
                <a:latin typeface="Times New Roman"/>
                <a:cs typeface="Times New Roman"/>
              </a:rPr>
              <a:t>direct</a:t>
            </a:r>
            <a:r>
              <a:rPr sz="3200" u="none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spc="-35" dirty="0">
                <a:solidFill>
                  <a:srgbClr val="FFFFFF"/>
                </a:solidFill>
                <a:latin typeface="Times New Roman"/>
                <a:cs typeface="Times New Roman"/>
              </a:rPr>
              <a:t>labor,</a:t>
            </a:r>
            <a:r>
              <a:rPr sz="3200" u="none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spc="-100" dirty="0">
                <a:solidFill>
                  <a:srgbClr val="FFFFFF"/>
                </a:solidFill>
                <a:latin typeface="Times New Roman"/>
                <a:cs typeface="Times New Roman"/>
              </a:rPr>
              <a:t>packaging, </a:t>
            </a:r>
            <a:r>
              <a:rPr sz="32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material 	</a:t>
            </a:r>
            <a:r>
              <a:rPr sz="3200" u="none" spc="-50" dirty="0">
                <a:solidFill>
                  <a:srgbClr val="FFFFFF"/>
                </a:solidFill>
                <a:latin typeface="Times New Roman"/>
                <a:cs typeface="Times New Roman"/>
              </a:rPr>
              <a:t>handling,</a:t>
            </a:r>
            <a:r>
              <a:rPr sz="3200" u="none" spc="-11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3200" u="none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200" u="none" spc="-10" dirty="0">
                <a:solidFill>
                  <a:srgbClr val="FFFFFF"/>
                </a:solidFill>
                <a:latin typeface="Times New Roman"/>
                <a:cs typeface="Times New Roman"/>
              </a:rPr>
              <a:t>freight.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3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7992" y="252475"/>
            <a:ext cx="8422640" cy="5530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CC00"/>
                </a:solidFill>
                <a:latin typeface="Arial"/>
                <a:cs typeface="Arial"/>
              </a:rPr>
              <a:t>Model</a:t>
            </a:r>
            <a:r>
              <a:rPr sz="2800" b="1" spc="-6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CC00"/>
                </a:solidFill>
                <a:latin typeface="Arial"/>
                <a:cs typeface="Arial"/>
              </a:rPr>
              <a:t>Building:</a:t>
            </a:r>
            <a:endParaRPr sz="2800" dirty="0">
              <a:latin typeface="Arial"/>
              <a:cs typeface="Arial"/>
            </a:endParaRPr>
          </a:p>
          <a:p>
            <a:pPr marL="59690">
              <a:lnSpc>
                <a:spcPct val="100000"/>
              </a:lnSpc>
            </a:pPr>
            <a:r>
              <a:rPr sz="2800" b="1" spc="-20" dirty="0">
                <a:solidFill>
                  <a:srgbClr val="FFCC00"/>
                </a:solidFill>
                <a:latin typeface="Arial"/>
                <a:cs typeface="Arial"/>
              </a:rPr>
              <a:t>Break-</a:t>
            </a:r>
            <a:r>
              <a:rPr sz="2800" b="1" dirty="0">
                <a:solidFill>
                  <a:srgbClr val="FFCC00"/>
                </a:solidFill>
                <a:latin typeface="Arial"/>
                <a:cs typeface="Arial"/>
              </a:rPr>
              <a:t>Even</a:t>
            </a:r>
            <a:r>
              <a:rPr sz="2800" b="1" spc="-12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CC00"/>
                </a:solidFill>
                <a:latin typeface="Arial"/>
                <a:cs typeface="Arial"/>
              </a:rPr>
              <a:t>Analysis</a:t>
            </a:r>
            <a:endParaRPr sz="2800" dirty="0">
              <a:latin typeface="Arial"/>
              <a:cs typeface="Arial"/>
            </a:endParaRPr>
          </a:p>
          <a:p>
            <a:pPr marL="406400" marR="80645" indent="-342900">
              <a:lnSpc>
                <a:spcPct val="100000"/>
              </a:lnSpc>
              <a:spcBef>
                <a:spcPts val="2100"/>
              </a:spcBef>
              <a:buClr>
                <a:srgbClr val="FFCC00"/>
              </a:buClr>
              <a:buSzPct val="68750"/>
              <a:buFont typeface="DejaVu Sans"/>
              <a:buChar char="◼"/>
              <a:tabLst>
                <a:tab pos="406400" algn="l"/>
              </a:tabLst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Fixed</a:t>
            </a:r>
            <a:r>
              <a:rPr sz="2400" b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Costs</a:t>
            </a:r>
            <a:r>
              <a:rPr sz="24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(c</a:t>
            </a:r>
            <a:r>
              <a:rPr sz="2400" b="1" baseline="-20833" dirty="0">
                <a:solidFill>
                  <a:srgbClr val="FF0000"/>
                </a:solidFill>
                <a:latin typeface="Arial"/>
                <a:cs typeface="Arial"/>
              </a:rPr>
              <a:t>f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-</a:t>
            </a:r>
            <a:r>
              <a:rPr sz="2400" spc="-5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costs</a:t>
            </a:r>
            <a:r>
              <a:rPr sz="2400" spc="-5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that</a:t>
            </a:r>
            <a:r>
              <a:rPr sz="2400" spc="-5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remain</a:t>
            </a:r>
            <a:r>
              <a:rPr sz="2400" spc="-6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constant</a:t>
            </a:r>
            <a:r>
              <a:rPr sz="2400" spc="-4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regardless</a:t>
            </a:r>
            <a:r>
              <a:rPr sz="2400" spc="-4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E4E4FF"/>
                </a:solidFill>
                <a:latin typeface="Arial"/>
                <a:cs typeface="Arial"/>
              </a:rPr>
              <a:t>of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number</a:t>
            </a:r>
            <a:r>
              <a:rPr sz="2400" spc="-5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of</a:t>
            </a:r>
            <a:r>
              <a:rPr sz="2400" spc="-4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units</a:t>
            </a:r>
            <a:r>
              <a:rPr sz="2400" spc="-5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E4FF"/>
                </a:solidFill>
                <a:latin typeface="Arial"/>
                <a:cs typeface="Arial"/>
              </a:rPr>
              <a:t>produced.</a:t>
            </a:r>
            <a:endParaRPr sz="2400" dirty="0">
              <a:latin typeface="Arial"/>
              <a:cs typeface="Arial"/>
            </a:endParaRPr>
          </a:p>
          <a:p>
            <a:pPr marL="405765" indent="-342265">
              <a:lnSpc>
                <a:spcPct val="100000"/>
              </a:lnSpc>
              <a:spcBef>
                <a:spcPts val="575"/>
              </a:spcBef>
              <a:buClr>
                <a:srgbClr val="FFCC00"/>
              </a:buClr>
              <a:buSzPct val="68750"/>
              <a:buFont typeface="DejaVu Sans"/>
              <a:buChar char="◼"/>
              <a:tabLst>
                <a:tab pos="405765" algn="l"/>
              </a:tabLst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Variable</a:t>
            </a:r>
            <a:r>
              <a:rPr sz="240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Cost</a:t>
            </a:r>
            <a:r>
              <a:rPr sz="24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(c</a:t>
            </a:r>
            <a:r>
              <a:rPr sz="2400" b="1" baseline="-20833" dirty="0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r>
              <a:rPr sz="24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-</a:t>
            </a:r>
            <a:r>
              <a:rPr sz="2400" spc="-6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unit</a:t>
            </a:r>
            <a:r>
              <a:rPr sz="2400" spc="-5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production</a:t>
            </a:r>
            <a:r>
              <a:rPr sz="2400" spc="-3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cost</a:t>
            </a:r>
            <a:r>
              <a:rPr sz="2400" spc="-5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of</a:t>
            </a:r>
            <a:r>
              <a:rPr sz="2400" spc="-5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E4FF"/>
                </a:solidFill>
                <a:latin typeface="Arial"/>
                <a:cs typeface="Arial"/>
              </a:rPr>
              <a:t>product.</a:t>
            </a:r>
            <a:endParaRPr sz="2400" dirty="0">
              <a:latin typeface="Arial"/>
              <a:cs typeface="Arial"/>
            </a:endParaRPr>
          </a:p>
          <a:p>
            <a:pPr marL="405765" indent="-342265">
              <a:lnSpc>
                <a:spcPct val="100000"/>
              </a:lnSpc>
              <a:spcBef>
                <a:spcPts val="515"/>
              </a:spcBef>
              <a:buClr>
                <a:srgbClr val="FFCC00"/>
              </a:buClr>
              <a:buSzPct val="69642"/>
              <a:buFont typeface="DejaVu Sans"/>
              <a:buChar char="◼"/>
              <a:tabLst>
                <a:tab pos="405765" algn="l"/>
              </a:tabLst>
            </a:pPr>
            <a:r>
              <a:rPr sz="2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total </a:t>
            </a:r>
            <a:r>
              <a:rPr sz="28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variable</a:t>
            </a:r>
            <a:r>
              <a:rPr sz="28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cost</a:t>
            </a:r>
            <a:r>
              <a:rPr sz="28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vc</a:t>
            </a:r>
            <a:r>
              <a:rPr sz="2400" spc="-3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endParaRPr sz="2400" baseline="-20833" dirty="0">
              <a:latin typeface="Times New Roman"/>
              <a:cs typeface="Times New Roman"/>
            </a:endParaRPr>
          </a:p>
          <a:p>
            <a:pPr marL="406400" marR="43180" indent="-342900">
              <a:lnSpc>
                <a:spcPct val="100000"/>
              </a:lnSpc>
              <a:spcBef>
                <a:spcPts val="605"/>
              </a:spcBef>
              <a:buClr>
                <a:srgbClr val="FFCC00"/>
              </a:buClr>
              <a:buSzPct val="68750"/>
              <a:buFont typeface="DejaVu Sans"/>
              <a:buChar char="◼"/>
              <a:tabLst>
                <a:tab pos="406400" algn="l"/>
              </a:tabLst>
            </a:pP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where</a:t>
            </a:r>
            <a:r>
              <a:rPr sz="2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sz="2400" spc="202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Times New Roman"/>
                <a:cs typeface="Times New Roman"/>
              </a:rPr>
              <a:t>variable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r>
              <a:rPr sz="2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per</a:t>
            </a:r>
            <a:r>
              <a:rPr sz="2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unit</a:t>
            </a:r>
            <a:r>
              <a:rPr sz="24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sz="24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24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volume</a:t>
            </a:r>
            <a:r>
              <a:rPr sz="24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(number</a:t>
            </a:r>
            <a:r>
              <a:rPr sz="24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units) sold.</a:t>
            </a:r>
            <a:endParaRPr sz="2400" dirty="0">
              <a:latin typeface="Times New Roman"/>
              <a:cs typeface="Times New Roman"/>
            </a:endParaRPr>
          </a:p>
          <a:p>
            <a:pPr marL="405765" indent="-342265">
              <a:lnSpc>
                <a:spcPct val="100000"/>
              </a:lnSpc>
              <a:spcBef>
                <a:spcPts val="705"/>
              </a:spcBef>
              <a:buClr>
                <a:srgbClr val="FFCC00"/>
              </a:buClr>
              <a:buSzPct val="68750"/>
              <a:buFont typeface="DejaVu Sans"/>
              <a:buChar char="◼"/>
              <a:tabLst>
                <a:tab pos="405765" algn="l"/>
              </a:tabLst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Total</a:t>
            </a:r>
            <a:r>
              <a:rPr sz="2400" b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Cost</a:t>
            </a:r>
            <a:r>
              <a:rPr sz="24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(TC)</a:t>
            </a:r>
            <a:r>
              <a:rPr sz="24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-</a:t>
            </a:r>
            <a:r>
              <a:rPr sz="2400" spc="-5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total</a:t>
            </a:r>
            <a:r>
              <a:rPr sz="2400" spc="-4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fixed</a:t>
            </a:r>
            <a:r>
              <a:rPr sz="2400" spc="-3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cost</a:t>
            </a:r>
            <a:r>
              <a:rPr sz="2400" spc="-4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plus</a:t>
            </a:r>
            <a:r>
              <a:rPr sz="2400" spc="-3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total</a:t>
            </a:r>
            <a:r>
              <a:rPr sz="2400" spc="-5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variable</a:t>
            </a:r>
            <a:r>
              <a:rPr sz="2400" spc="-2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E4E4FF"/>
                </a:solidFill>
                <a:latin typeface="Arial"/>
                <a:cs typeface="Arial"/>
              </a:rPr>
              <a:t>cost.</a:t>
            </a:r>
            <a:endParaRPr sz="2400" dirty="0">
              <a:latin typeface="Arial"/>
              <a:cs typeface="Arial"/>
            </a:endParaRPr>
          </a:p>
          <a:p>
            <a:pPr marL="406400" marR="443865" indent="-342900">
              <a:lnSpc>
                <a:spcPct val="100000"/>
              </a:lnSpc>
              <a:spcBef>
                <a:spcPts val="580"/>
              </a:spcBef>
              <a:buClr>
                <a:srgbClr val="FFCC00"/>
              </a:buClr>
              <a:buSzPct val="68750"/>
              <a:buFont typeface="DejaVu Sans"/>
              <a:buChar char="◼"/>
              <a:tabLst>
                <a:tab pos="406400" algn="l"/>
              </a:tabLst>
            </a:pP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Profit</a:t>
            </a:r>
            <a:r>
              <a:rPr sz="2400" b="1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/>
                <a:cs typeface="Arial"/>
              </a:rPr>
              <a:t>(Z)</a:t>
            </a:r>
            <a:r>
              <a:rPr sz="24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-</a:t>
            </a:r>
            <a:r>
              <a:rPr sz="2400" spc="-5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difference</a:t>
            </a:r>
            <a:r>
              <a:rPr sz="2400" spc="-3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between</a:t>
            </a:r>
            <a:r>
              <a:rPr sz="2400" spc="-4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total</a:t>
            </a:r>
            <a:r>
              <a:rPr sz="2400" spc="-5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revenue</a:t>
            </a:r>
            <a:r>
              <a:rPr sz="2400" spc="-2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vp</a:t>
            </a:r>
            <a:r>
              <a:rPr sz="2400" spc="-6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(p</a:t>
            </a:r>
            <a:r>
              <a:rPr sz="2400" spc="-4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=</a:t>
            </a:r>
            <a:r>
              <a:rPr sz="2400" spc="-4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E4E4FF"/>
                </a:solidFill>
                <a:latin typeface="Arial"/>
                <a:cs typeface="Arial"/>
              </a:rPr>
              <a:t>unit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price)</a:t>
            </a:r>
            <a:r>
              <a:rPr sz="2400" spc="-3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and</a:t>
            </a:r>
            <a:r>
              <a:rPr sz="2400" spc="-2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total</a:t>
            </a:r>
            <a:r>
              <a:rPr sz="2400" spc="-4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E4E4FF"/>
                </a:solidFill>
                <a:latin typeface="Arial"/>
                <a:cs typeface="Arial"/>
              </a:rPr>
              <a:t>cost,</a:t>
            </a:r>
            <a:r>
              <a:rPr sz="2400" spc="-4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E4E4FF"/>
                </a:solidFill>
                <a:latin typeface="Arial"/>
                <a:cs typeface="Arial"/>
              </a:rPr>
              <a:t>i.e.</a:t>
            </a:r>
            <a:endParaRPr sz="2400" dirty="0">
              <a:latin typeface="Arial"/>
              <a:cs typeface="Arial"/>
            </a:endParaRPr>
          </a:p>
          <a:p>
            <a:pPr marL="123825" algn="ctr">
              <a:lnSpc>
                <a:spcPct val="100000"/>
              </a:lnSpc>
              <a:spcBef>
                <a:spcPts val="830"/>
              </a:spcBef>
              <a:tabLst>
                <a:tab pos="2252980" algn="l"/>
              </a:tabLst>
            </a:pPr>
            <a:r>
              <a:rPr sz="3600" dirty="0">
                <a:solidFill>
                  <a:srgbClr val="E4E4FF"/>
                </a:solidFill>
                <a:latin typeface="Arial"/>
                <a:cs typeface="Arial"/>
              </a:rPr>
              <a:t>Z</a:t>
            </a:r>
            <a:r>
              <a:rPr sz="3600" spc="-1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E4E4FF"/>
                </a:solidFill>
                <a:latin typeface="Arial"/>
                <a:cs typeface="Arial"/>
              </a:rPr>
              <a:t>=</a:t>
            </a:r>
            <a:r>
              <a:rPr sz="3600" spc="-1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E4E4FF"/>
                </a:solidFill>
                <a:latin typeface="Arial"/>
                <a:cs typeface="Arial"/>
              </a:rPr>
              <a:t>vp</a:t>
            </a:r>
            <a:r>
              <a:rPr sz="3600" spc="-1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E4E4FF"/>
                </a:solidFill>
                <a:latin typeface="Arial"/>
                <a:cs typeface="Arial"/>
              </a:rPr>
              <a:t>-</a:t>
            </a:r>
            <a:r>
              <a:rPr sz="3600" spc="-15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3600" spc="-25" dirty="0">
                <a:solidFill>
                  <a:srgbClr val="E4E4FF"/>
                </a:solidFill>
                <a:latin typeface="Arial"/>
                <a:cs typeface="Arial"/>
              </a:rPr>
              <a:t>c</a:t>
            </a:r>
            <a:r>
              <a:rPr sz="3600" spc="-37" baseline="-20833" dirty="0">
                <a:solidFill>
                  <a:srgbClr val="E4E4FF"/>
                </a:solidFill>
                <a:latin typeface="Arial"/>
                <a:cs typeface="Arial"/>
              </a:rPr>
              <a:t>f</a:t>
            </a:r>
            <a:r>
              <a:rPr sz="3600" baseline="-20833" dirty="0">
                <a:solidFill>
                  <a:srgbClr val="E4E4FF"/>
                </a:solidFill>
                <a:latin typeface="Arial"/>
                <a:cs typeface="Arial"/>
              </a:rPr>
              <a:t>	</a:t>
            </a:r>
            <a:r>
              <a:rPr sz="3600" dirty="0">
                <a:solidFill>
                  <a:srgbClr val="E4E4FF"/>
                </a:solidFill>
                <a:latin typeface="Arial"/>
                <a:cs typeface="Arial"/>
              </a:rPr>
              <a:t>-</a:t>
            </a:r>
            <a:r>
              <a:rPr sz="3600" spc="-20" dirty="0">
                <a:solidFill>
                  <a:srgbClr val="E4E4FF"/>
                </a:solidFill>
                <a:latin typeface="Arial"/>
                <a:cs typeface="Arial"/>
              </a:rPr>
              <a:t> </a:t>
            </a:r>
            <a:r>
              <a:rPr sz="3600" spc="-25" dirty="0">
                <a:solidFill>
                  <a:srgbClr val="E4E4FF"/>
                </a:solidFill>
                <a:latin typeface="Arial"/>
                <a:cs typeface="Arial"/>
              </a:rPr>
              <a:t>vc</a:t>
            </a:r>
            <a:r>
              <a:rPr sz="3600" spc="-37" baseline="-20833" dirty="0">
                <a:solidFill>
                  <a:srgbClr val="E4E4FF"/>
                </a:solidFill>
                <a:latin typeface="Arial"/>
                <a:cs typeface="Arial"/>
              </a:rPr>
              <a:t>v</a:t>
            </a:r>
            <a:endParaRPr sz="3600" baseline="-20833" dirty="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00" y="1244600"/>
            <a:ext cx="8534400" cy="0"/>
          </a:xfrm>
          <a:custGeom>
            <a:avLst/>
            <a:gdLst/>
            <a:ahLst/>
            <a:cxnLst/>
            <a:rect l="l" t="t" r="r" b="b"/>
            <a:pathLst>
              <a:path w="8534400">
                <a:moveTo>
                  <a:pt x="0" y="0"/>
                </a:moveTo>
                <a:lnTo>
                  <a:pt x="8534400" y="0"/>
                </a:lnTo>
              </a:path>
            </a:pathLst>
          </a:custGeom>
          <a:ln w="63500">
            <a:solidFill>
              <a:srgbClr val="00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3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1592" rIns="0" bIns="0" rtlCol="0">
            <a:spAutoFit/>
          </a:bodyPr>
          <a:lstStyle/>
          <a:p>
            <a:pPr marL="2793365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</a:t>
            </a:r>
            <a:r>
              <a:rPr spc="65" dirty="0"/>
              <a:t> </a:t>
            </a:r>
            <a:r>
              <a:rPr spc="100" dirty="0"/>
              <a:t>#1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90599"/>
            <a:ext cx="9144000" cy="58673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1371600"/>
            <a:ext cx="8534400" cy="0"/>
          </a:xfrm>
          <a:custGeom>
            <a:avLst/>
            <a:gdLst/>
            <a:ahLst/>
            <a:cxnLst/>
            <a:rect l="l" t="t" r="r" b="b"/>
            <a:pathLst>
              <a:path w="8534400">
                <a:moveTo>
                  <a:pt x="0" y="0"/>
                </a:moveTo>
                <a:lnTo>
                  <a:pt x="8534400" y="0"/>
                </a:lnTo>
              </a:path>
            </a:pathLst>
          </a:custGeom>
          <a:ln w="63500">
            <a:solidFill>
              <a:srgbClr val="0099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8792" y="1930730"/>
            <a:ext cx="47834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C00"/>
                </a:solidFill>
                <a:latin typeface="Arial"/>
                <a:cs typeface="Arial"/>
              </a:rPr>
              <a:t>Computing</a:t>
            </a:r>
            <a:r>
              <a:rPr sz="2400" spc="-2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CC00"/>
                </a:solidFill>
                <a:latin typeface="Arial"/>
                <a:cs typeface="Arial"/>
              </a:rPr>
              <a:t>the</a:t>
            </a:r>
            <a:r>
              <a:rPr sz="2400" spc="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FFCC00"/>
                </a:solidFill>
                <a:latin typeface="Arial"/>
                <a:cs typeface="Arial"/>
              </a:rPr>
              <a:t>Break-</a:t>
            </a:r>
            <a:r>
              <a:rPr sz="2400" dirty="0">
                <a:solidFill>
                  <a:srgbClr val="FFCC00"/>
                </a:solidFill>
                <a:latin typeface="Arial"/>
                <a:cs typeface="Arial"/>
              </a:rPr>
              <a:t>Even</a:t>
            </a:r>
            <a:r>
              <a:rPr sz="2400" spc="2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CC00"/>
                </a:solidFill>
                <a:latin typeface="Arial"/>
                <a:cs typeface="Arial"/>
              </a:rPr>
              <a:t>Point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315" y="2648711"/>
            <a:ext cx="140207" cy="1493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778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50" dirty="0"/>
              <a:t> </a:t>
            </a:r>
            <a:r>
              <a:rPr spc="-20" dirty="0"/>
              <a:t>break-</a:t>
            </a:r>
            <a:r>
              <a:rPr dirty="0"/>
              <a:t>even</a:t>
            </a:r>
            <a:r>
              <a:rPr spc="-35" dirty="0"/>
              <a:t> </a:t>
            </a:r>
            <a:r>
              <a:rPr dirty="0"/>
              <a:t>point</a:t>
            </a:r>
            <a:r>
              <a:rPr spc="-2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volume</a:t>
            </a:r>
            <a:r>
              <a:rPr spc="-30" dirty="0"/>
              <a:t> </a:t>
            </a:r>
            <a:r>
              <a:rPr dirty="0"/>
              <a:t>at</a:t>
            </a:r>
            <a:r>
              <a:rPr spc="-40" dirty="0"/>
              <a:t> </a:t>
            </a:r>
            <a:r>
              <a:rPr dirty="0"/>
              <a:t>which</a:t>
            </a:r>
            <a:r>
              <a:rPr spc="-25" dirty="0"/>
              <a:t> </a:t>
            </a:r>
            <a:r>
              <a:rPr dirty="0"/>
              <a:t>total</a:t>
            </a:r>
            <a:r>
              <a:rPr spc="-50" dirty="0"/>
              <a:t> </a:t>
            </a:r>
            <a:r>
              <a:rPr spc="-10" dirty="0"/>
              <a:t>revenue </a:t>
            </a:r>
            <a:r>
              <a:rPr dirty="0"/>
              <a:t>equals</a:t>
            </a:r>
            <a:r>
              <a:rPr spc="-25" dirty="0"/>
              <a:t> </a:t>
            </a:r>
            <a:r>
              <a:rPr dirty="0"/>
              <a:t>total</a:t>
            </a:r>
            <a:r>
              <a:rPr spc="-55" dirty="0"/>
              <a:t> </a:t>
            </a:r>
            <a:r>
              <a:rPr dirty="0"/>
              <a:t>cost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profit</a:t>
            </a:r>
            <a:r>
              <a:rPr spc="-3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zero: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pc="-10" dirty="0"/>
          </a:p>
          <a:p>
            <a:pPr marR="153670" algn="ctr">
              <a:lnSpc>
                <a:spcPct val="100000"/>
              </a:lnSpc>
              <a:tabLst>
                <a:tab pos="535305" algn="l"/>
                <a:tab pos="1115695" algn="l"/>
              </a:tabLst>
            </a:pPr>
            <a:r>
              <a:rPr sz="4000" spc="-50" dirty="0"/>
              <a:t>v</a:t>
            </a:r>
            <a:r>
              <a:rPr sz="4000" dirty="0"/>
              <a:t>	</a:t>
            </a:r>
            <a:r>
              <a:rPr sz="4000" spc="-50" dirty="0"/>
              <a:t>=</a:t>
            </a:r>
            <a:r>
              <a:rPr sz="4000" dirty="0"/>
              <a:t>	c</a:t>
            </a:r>
            <a:r>
              <a:rPr sz="3975" baseline="-20964" dirty="0"/>
              <a:t>f</a:t>
            </a:r>
            <a:r>
              <a:rPr sz="4000" dirty="0"/>
              <a:t>/(p</a:t>
            </a:r>
            <a:r>
              <a:rPr sz="4000" spc="-35" dirty="0"/>
              <a:t> </a:t>
            </a:r>
            <a:r>
              <a:rPr sz="4000" dirty="0"/>
              <a:t>-</a:t>
            </a:r>
            <a:r>
              <a:rPr sz="4000" spc="-40" dirty="0"/>
              <a:t> </a:t>
            </a:r>
            <a:r>
              <a:rPr sz="4000" spc="-25" dirty="0"/>
              <a:t>c</a:t>
            </a:r>
            <a:r>
              <a:rPr sz="3975" spc="-37" baseline="-20964" dirty="0"/>
              <a:t>v</a:t>
            </a:r>
            <a:r>
              <a:rPr sz="4000" spc="-25" dirty="0"/>
              <a:t>)</a:t>
            </a:r>
            <a:endParaRPr sz="4000"/>
          </a:p>
          <a:p>
            <a:pPr marL="2017395">
              <a:lnSpc>
                <a:spcPct val="100000"/>
              </a:lnSpc>
              <a:spcBef>
                <a:spcPts val="1490"/>
              </a:spcBef>
            </a:pPr>
            <a:r>
              <a:rPr spc="-20" dirty="0"/>
              <a:t>(Break-</a:t>
            </a:r>
            <a:r>
              <a:rPr dirty="0"/>
              <a:t>Even</a:t>
            </a:r>
            <a:r>
              <a:rPr spc="-20" dirty="0"/>
              <a:t> </a:t>
            </a:r>
            <a:r>
              <a:rPr spc="-10" dirty="0"/>
              <a:t>Point)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54516" y="6627812"/>
            <a:ext cx="11048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8991" rIns="0" bIns="0" rtlCol="0">
            <a:spAutoFit/>
          </a:bodyPr>
          <a:lstStyle/>
          <a:p>
            <a:pPr marL="2773680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</a:t>
            </a:r>
            <a:r>
              <a:rPr spc="65" dirty="0"/>
              <a:t> </a:t>
            </a:r>
            <a:r>
              <a:rPr spc="254" dirty="0"/>
              <a:t>#2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90599"/>
            <a:ext cx="9144000" cy="58673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43478" y="6627812"/>
            <a:ext cx="225742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Chapter</a:t>
            </a:r>
            <a:r>
              <a:rPr sz="12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1-</a:t>
            </a:r>
            <a:r>
              <a:rPr sz="12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r>
              <a:rPr sz="12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Science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69171" y="6627812"/>
            <a:ext cx="19621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0"/>
              </a:lnSpc>
            </a:pP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FFCC00"/>
                </a:solidFill>
                <a:latin typeface="Arial"/>
                <a:cs typeface="Arial"/>
              </a:rPr>
              <a:t>Break-</a:t>
            </a:r>
            <a:r>
              <a:rPr sz="2800" dirty="0">
                <a:solidFill>
                  <a:srgbClr val="FFCC00"/>
                </a:solidFill>
                <a:latin typeface="Arial"/>
                <a:cs typeface="Arial"/>
              </a:rPr>
              <a:t>Even</a:t>
            </a:r>
            <a:r>
              <a:rPr sz="2800" spc="-12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CC00"/>
                </a:solidFill>
                <a:latin typeface="Arial"/>
                <a:cs typeface="Arial"/>
              </a:rPr>
              <a:t>Analysis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0037" y="1398587"/>
            <a:ext cx="8543925" cy="4048125"/>
            <a:chOff x="300037" y="1398587"/>
            <a:chExt cx="8543925" cy="4048125"/>
          </a:xfrm>
        </p:grpSpPr>
        <p:sp>
          <p:nvSpPr>
            <p:cNvPr id="4" name="object 4"/>
            <p:cNvSpPr/>
            <p:nvPr/>
          </p:nvSpPr>
          <p:spPr>
            <a:xfrm>
              <a:off x="304800" y="1403350"/>
              <a:ext cx="8534400" cy="4038600"/>
            </a:xfrm>
            <a:custGeom>
              <a:avLst/>
              <a:gdLst/>
              <a:ahLst/>
              <a:cxnLst/>
              <a:rect l="l" t="t" r="r" b="b"/>
              <a:pathLst>
                <a:path w="8534400" h="4038600">
                  <a:moveTo>
                    <a:pt x="8534400" y="0"/>
                  </a:moveTo>
                  <a:lnTo>
                    <a:pt x="0" y="0"/>
                  </a:lnTo>
                  <a:lnTo>
                    <a:pt x="0" y="4038600"/>
                  </a:lnTo>
                  <a:lnTo>
                    <a:pt x="8534400" y="4038600"/>
                  </a:lnTo>
                  <a:lnTo>
                    <a:pt x="8534400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4800" y="1403350"/>
              <a:ext cx="8534400" cy="4038600"/>
            </a:xfrm>
            <a:custGeom>
              <a:avLst/>
              <a:gdLst/>
              <a:ahLst/>
              <a:cxnLst/>
              <a:rect l="l" t="t" r="r" b="b"/>
              <a:pathLst>
                <a:path w="8534400" h="4038600">
                  <a:moveTo>
                    <a:pt x="0" y="4038600"/>
                  </a:moveTo>
                  <a:lnTo>
                    <a:pt x="8534400" y="4038600"/>
                  </a:lnTo>
                  <a:lnTo>
                    <a:pt x="8534400" y="0"/>
                  </a:lnTo>
                  <a:lnTo>
                    <a:pt x="0" y="0"/>
                  </a:lnTo>
                  <a:lnTo>
                    <a:pt x="0" y="4038600"/>
                  </a:lnTo>
                  <a:close/>
                </a:path>
              </a:pathLst>
            </a:custGeom>
            <a:ln w="9525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54653" y="1851405"/>
            <a:ext cx="2334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Graphical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Solution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501650"/>
            <a:ext cx="9144000" cy="6356350"/>
            <a:chOff x="0" y="501650"/>
            <a:chExt cx="9144000" cy="635635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100" y="533398"/>
              <a:ext cx="8458200" cy="632459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0" y="53340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ln w="63500">
              <a:solidFill>
                <a:srgbClr val="0099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944625"/>
            <a:ext cx="8534400" cy="4932680"/>
            <a:chOff x="304800" y="944625"/>
            <a:chExt cx="8534400" cy="4932680"/>
          </a:xfrm>
        </p:grpSpPr>
        <p:sp>
          <p:nvSpPr>
            <p:cNvPr id="3" name="object 3"/>
            <p:cNvSpPr/>
            <p:nvPr/>
          </p:nvSpPr>
          <p:spPr>
            <a:xfrm>
              <a:off x="304800" y="1396999"/>
              <a:ext cx="8534400" cy="4114800"/>
            </a:xfrm>
            <a:custGeom>
              <a:avLst/>
              <a:gdLst/>
              <a:ahLst/>
              <a:cxnLst/>
              <a:rect l="l" t="t" r="r" b="b"/>
              <a:pathLst>
                <a:path w="8534400" h="4114800">
                  <a:moveTo>
                    <a:pt x="8534400" y="0"/>
                  </a:moveTo>
                  <a:lnTo>
                    <a:pt x="0" y="0"/>
                  </a:lnTo>
                  <a:lnTo>
                    <a:pt x="0" y="4114800"/>
                  </a:lnTo>
                  <a:lnTo>
                    <a:pt x="8534400" y="4114800"/>
                  </a:lnTo>
                  <a:lnTo>
                    <a:pt x="8534400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800" y="944625"/>
              <a:ext cx="8229600" cy="493229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42061" y="5817819"/>
            <a:ext cx="8259445" cy="875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65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CC00"/>
                </a:solidFill>
                <a:latin typeface="Arial"/>
                <a:cs typeface="Arial"/>
              </a:rPr>
              <a:t>Sensitivity</a:t>
            </a:r>
            <a:r>
              <a:rPr sz="2400" b="1" spc="-12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Analysis</a:t>
            </a:r>
            <a:r>
              <a:rPr sz="2400" b="1" spc="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-</a:t>
            </a:r>
            <a:r>
              <a:rPr sz="2400" b="1" spc="-3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CC00"/>
                </a:solidFill>
                <a:latin typeface="Arial"/>
                <a:cs typeface="Arial"/>
              </a:rPr>
              <a:t>Break-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even</a:t>
            </a:r>
            <a:r>
              <a:rPr sz="2400" b="1" spc="-1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Model</a:t>
            </a:r>
            <a:r>
              <a:rPr sz="2400" b="1" spc="-3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with</a:t>
            </a:r>
            <a:r>
              <a:rPr sz="2400" b="1" spc="-7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a</a:t>
            </a:r>
            <a:r>
              <a:rPr sz="2400" b="1" spc="-3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Change</a:t>
            </a:r>
            <a:r>
              <a:rPr sz="2400" b="1" spc="-25" dirty="0">
                <a:solidFill>
                  <a:srgbClr val="FFCC00"/>
                </a:solidFill>
                <a:latin typeface="Arial"/>
                <a:cs typeface="Arial"/>
              </a:rPr>
              <a:t> in</a:t>
            </a:r>
            <a:endParaRPr sz="2400">
              <a:latin typeface="Arial"/>
              <a:cs typeface="Arial"/>
            </a:endParaRPr>
          </a:p>
          <a:p>
            <a:pPr marL="1270" algn="ctr">
              <a:lnSpc>
                <a:spcPts val="3825"/>
              </a:lnSpc>
            </a:pPr>
            <a:r>
              <a:rPr sz="3200" b="1" spc="-10" dirty="0">
                <a:solidFill>
                  <a:srgbClr val="FF0000"/>
                </a:solidFill>
                <a:latin typeface="Arial"/>
                <a:cs typeface="Arial"/>
              </a:rPr>
              <a:t>Price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501650"/>
            <a:ext cx="9144000" cy="63500"/>
          </a:xfrm>
          <a:custGeom>
            <a:avLst/>
            <a:gdLst/>
            <a:ahLst/>
            <a:cxnLst/>
            <a:rect l="l" t="t" r="r" b="b"/>
            <a:pathLst>
              <a:path w="9144000" h="63500">
                <a:moveTo>
                  <a:pt x="0" y="63500"/>
                </a:moveTo>
                <a:lnTo>
                  <a:pt x="9144000" y="63500"/>
                </a:lnTo>
                <a:lnTo>
                  <a:pt x="914400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44320" marR="5080" indent="-127889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0000"/>
                </a:solidFill>
              </a:rPr>
              <a:t>In</a:t>
            </a:r>
            <a:r>
              <a:rPr sz="2800" spc="-9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general,</a:t>
            </a:r>
            <a:r>
              <a:rPr sz="2800" spc="-9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an</a:t>
            </a:r>
            <a:r>
              <a:rPr sz="2800" spc="-9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increase</a:t>
            </a:r>
            <a:r>
              <a:rPr sz="2800" spc="-9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in</a:t>
            </a:r>
            <a:r>
              <a:rPr sz="2800" spc="-8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price</a:t>
            </a:r>
            <a:r>
              <a:rPr sz="2800" spc="-9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lowers</a:t>
            </a:r>
            <a:r>
              <a:rPr sz="2800" spc="-8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the</a:t>
            </a:r>
            <a:r>
              <a:rPr sz="2800" spc="-85" dirty="0">
                <a:solidFill>
                  <a:srgbClr val="FF0000"/>
                </a:solidFill>
              </a:rPr>
              <a:t> </a:t>
            </a:r>
            <a:r>
              <a:rPr sz="2800" spc="-65" dirty="0">
                <a:solidFill>
                  <a:srgbClr val="FF0000"/>
                </a:solidFill>
              </a:rPr>
              <a:t>break-</a:t>
            </a:r>
            <a:r>
              <a:rPr sz="2800" spc="-20" dirty="0">
                <a:solidFill>
                  <a:srgbClr val="FF0000"/>
                </a:solidFill>
              </a:rPr>
              <a:t>even </a:t>
            </a:r>
            <a:r>
              <a:rPr sz="2800" dirty="0">
                <a:solidFill>
                  <a:srgbClr val="FF0000"/>
                </a:solidFill>
              </a:rPr>
              <a:t>point,</a:t>
            </a:r>
            <a:r>
              <a:rPr sz="2800" spc="-50" dirty="0">
                <a:solidFill>
                  <a:srgbClr val="FF0000"/>
                </a:solidFill>
              </a:rPr>
              <a:t> </a:t>
            </a:r>
            <a:r>
              <a:rPr sz="2800" spc="-20" dirty="0">
                <a:solidFill>
                  <a:srgbClr val="FF0000"/>
                </a:solidFill>
              </a:rPr>
              <a:t>all</a:t>
            </a:r>
            <a:r>
              <a:rPr sz="2800" spc="-65" dirty="0">
                <a:solidFill>
                  <a:srgbClr val="FF0000"/>
                </a:solidFill>
              </a:rPr>
              <a:t> </a:t>
            </a:r>
            <a:r>
              <a:rPr sz="2800" spc="-25" dirty="0">
                <a:solidFill>
                  <a:srgbClr val="FF0000"/>
                </a:solidFill>
              </a:rPr>
              <a:t>other</a:t>
            </a:r>
            <a:r>
              <a:rPr sz="2800" spc="-4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things</a:t>
            </a:r>
            <a:r>
              <a:rPr sz="2800" spc="-5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held</a:t>
            </a:r>
            <a:r>
              <a:rPr sz="2800" spc="-40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constant.</a:t>
            </a:r>
            <a:endParaRPr sz="28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1203325"/>
            <a:ext cx="8572500" cy="4679950"/>
            <a:chOff x="304800" y="1203325"/>
            <a:chExt cx="8572500" cy="4679950"/>
          </a:xfrm>
        </p:grpSpPr>
        <p:sp>
          <p:nvSpPr>
            <p:cNvPr id="3" name="object 3"/>
            <p:cNvSpPr/>
            <p:nvPr/>
          </p:nvSpPr>
          <p:spPr>
            <a:xfrm>
              <a:off x="304800" y="1384300"/>
              <a:ext cx="8534400" cy="4114800"/>
            </a:xfrm>
            <a:custGeom>
              <a:avLst/>
              <a:gdLst/>
              <a:ahLst/>
              <a:cxnLst/>
              <a:rect l="l" t="t" r="r" b="b"/>
              <a:pathLst>
                <a:path w="8534400" h="4114800">
                  <a:moveTo>
                    <a:pt x="8534400" y="0"/>
                  </a:moveTo>
                  <a:lnTo>
                    <a:pt x="0" y="0"/>
                  </a:lnTo>
                  <a:lnTo>
                    <a:pt x="0" y="4114800"/>
                  </a:lnTo>
                  <a:lnTo>
                    <a:pt x="8534400" y="4114800"/>
                  </a:lnTo>
                  <a:lnTo>
                    <a:pt x="8534400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300" y="1203325"/>
              <a:ext cx="8382000" cy="467995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0" y="501650"/>
            <a:ext cx="9144000" cy="63500"/>
          </a:xfrm>
          <a:custGeom>
            <a:avLst/>
            <a:gdLst/>
            <a:ahLst/>
            <a:cxnLst/>
            <a:rect l="l" t="t" r="r" b="b"/>
            <a:pathLst>
              <a:path w="9144000" h="63500">
                <a:moveTo>
                  <a:pt x="0" y="63500"/>
                </a:moveTo>
                <a:lnTo>
                  <a:pt x="9144000" y="63500"/>
                </a:lnTo>
                <a:lnTo>
                  <a:pt x="914400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1536" y="76911"/>
            <a:ext cx="84416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0000"/>
                </a:solidFill>
              </a:rPr>
              <a:t>In</a:t>
            </a:r>
            <a:r>
              <a:rPr sz="2800" spc="-55" dirty="0">
                <a:solidFill>
                  <a:srgbClr val="FF0000"/>
                </a:solidFill>
              </a:rPr>
              <a:t> </a:t>
            </a:r>
            <a:r>
              <a:rPr sz="2800" spc="-10" dirty="0">
                <a:solidFill>
                  <a:srgbClr val="FF0000"/>
                </a:solidFill>
              </a:rPr>
              <a:t>general,</a:t>
            </a:r>
            <a:r>
              <a:rPr sz="2800" spc="-5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an</a:t>
            </a:r>
            <a:r>
              <a:rPr sz="2800" spc="-4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increase</a:t>
            </a:r>
            <a:r>
              <a:rPr sz="2800" spc="-5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in</a:t>
            </a:r>
            <a:r>
              <a:rPr sz="2800" spc="-50" dirty="0">
                <a:solidFill>
                  <a:srgbClr val="FF0000"/>
                </a:solidFill>
              </a:rPr>
              <a:t> </a:t>
            </a:r>
            <a:r>
              <a:rPr sz="2800" spc="-75" dirty="0">
                <a:solidFill>
                  <a:srgbClr val="FF0000"/>
                </a:solidFill>
              </a:rPr>
              <a:t>variable</a:t>
            </a:r>
            <a:r>
              <a:rPr sz="2800" spc="-6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costs</a:t>
            </a:r>
            <a:r>
              <a:rPr sz="2800" spc="-50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will</a:t>
            </a:r>
            <a:r>
              <a:rPr sz="2800" spc="-35" dirty="0">
                <a:solidFill>
                  <a:srgbClr val="FF0000"/>
                </a:solidFill>
              </a:rPr>
              <a:t> </a:t>
            </a:r>
            <a:r>
              <a:rPr sz="2800" dirty="0">
                <a:solidFill>
                  <a:srgbClr val="FF0000"/>
                </a:solidFill>
              </a:rPr>
              <a:t>increase</a:t>
            </a:r>
            <a:r>
              <a:rPr sz="2800" spc="-50" dirty="0">
                <a:solidFill>
                  <a:srgbClr val="FF0000"/>
                </a:solidFill>
              </a:rPr>
              <a:t> </a:t>
            </a:r>
            <a:r>
              <a:rPr sz="2800" spc="-25" dirty="0">
                <a:solidFill>
                  <a:srgbClr val="FF0000"/>
                </a:solidFill>
              </a:rPr>
              <a:t>the</a:t>
            </a:r>
            <a:endParaRPr sz="2800"/>
          </a:p>
        </p:txBody>
      </p:sp>
      <p:sp>
        <p:nvSpPr>
          <p:cNvPr id="8" name="object 8"/>
          <p:cNvSpPr txBox="1"/>
          <p:nvPr/>
        </p:nvSpPr>
        <p:spPr>
          <a:xfrm>
            <a:off x="426212" y="5846691"/>
            <a:ext cx="8293100" cy="850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735"/>
              </a:lnSpc>
            </a:pPr>
            <a:r>
              <a:rPr sz="2400" b="1" spc="-10" dirty="0">
                <a:solidFill>
                  <a:srgbClr val="FFCC00"/>
                </a:solidFill>
                <a:latin typeface="Arial"/>
                <a:cs typeface="Arial"/>
              </a:rPr>
              <a:t>Sensitivity</a:t>
            </a:r>
            <a:r>
              <a:rPr sz="2400" b="1" spc="-12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Analysis</a:t>
            </a:r>
            <a:r>
              <a:rPr sz="2400" b="1" spc="1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-</a:t>
            </a:r>
            <a:r>
              <a:rPr sz="2400" b="1" spc="-3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CC00"/>
                </a:solidFill>
                <a:latin typeface="Arial"/>
                <a:cs typeface="Arial"/>
              </a:rPr>
              <a:t>Break-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Even</a:t>
            </a:r>
            <a:r>
              <a:rPr sz="2400" b="1" spc="-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Model</a:t>
            </a:r>
            <a:r>
              <a:rPr sz="2400" b="1" spc="-4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with</a:t>
            </a:r>
            <a:r>
              <a:rPr sz="2400" b="1" spc="-6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a</a:t>
            </a:r>
            <a:r>
              <a:rPr sz="2400" b="1" spc="-3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Change</a:t>
            </a:r>
            <a:r>
              <a:rPr sz="2400" b="1" spc="-2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CC00"/>
                </a:solidFill>
                <a:latin typeface="Arial"/>
                <a:cs typeface="Arial"/>
              </a:rPr>
              <a:t>in</a:t>
            </a:r>
            <a:endParaRPr sz="2400">
              <a:latin typeface="Arial"/>
              <a:cs typeface="Arial"/>
            </a:endParaRPr>
          </a:p>
          <a:p>
            <a:pPr marL="635" algn="ctr">
              <a:lnSpc>
                <a:spcPts val="3825"/>
              </a:lnSpc>
            </a:pPr>
            <a:r>
              <a:rPr sz="3200" b="1" spc="-10" dirty="0">
                <a:solidFill>
                  <a:srgbClr val="FF0000"/>
                </a:solidFill>
                <a:latin typeface="Arial"/>
                <a:cs typeface="Arial"/>
              </a:rPr>
              <a:t>Variable</a:t>
            </a:r>
            <a:r>
              <a:rPr sz="3200" b="1" spc="-1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20" dirty="0">
                <a:solidFill>
                  <a:srgbClr val="FF0000"/>
                </a:solidFill>
                <a:latin typeface="Arial"/>
                <a:cs typeface="Arial"/>
              </a:rPr>
              <a:t>Cost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968755" y="503936"/>
            <a:ext cx="7202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break-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even</a:t>
            </a:r>
            <a:r>
              <a:rPr sz="2800" b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point,</a:t>
            </a:r>
            <a:r>
              <a:rPr sz="28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all</a:t>
            </a:r>
            <a:r>
              <a:rPr sz="2800" b="1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other</a:t>
            </a:r>
            <a:r>
              <a:rPr sz="2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things</a:t>
            </a:r>
            <a:r>
              <a:rPr sz="2800" b="1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held</a:t>
            </a:r>
            <a:r>
              <a:rPr sz="2800" b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constant.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4800" y="1397000"/>
            <a:ext cx="8534400" cy="4318000"/>
            <a:chOff x="304800" y="1397000"/>
            <a:chExt cx="8534400" cy="4318000"/>
          </a:xfrm>
        </p:grpSpPr>
        <p:sp>
          <p:nvSpPr>
            <p:cNvPr id="3" name="object 3"/>
            <p:cNvSpPr/>
            <p:nvPr/>
          </p:nvSpPr>
          <p:spPr>
            <a:xfrm>
              <a:off x="304800" y="1397000"/>
              <a:ext cx="8534400" cy="4114800"/>
            </a:xfrm>
            <a:custGeom>
              <a:avLst/>
              <a:gdLst/>
              <a:ahLst/>
              <a:cxnLst/>
              <a:rect l="l" t="t" r="r" b="b"/>
              <a:pathLst>
                <a:path w="8534400" h="4114800">
                  <a:moveTo>
                    <a:pt x="8534400" y="0"/>
                  </a:moveTo>
                  <a:lnTo>
                    <a:pt x="0" y="0"/>
                  </a:lnTo>
                  <a:lnTo>
                    <a:pt x="0" y="4114800"/>
                  </a:lnTo>
                  <a:lnTo>
                    <a:pt x="8534400" y="4114800"/>
                  </a:lnTo>
                  <a:lnTo>
                    <a:pt x="8534400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00" y="1419225"/>
              <a:ext cx="7581900" cy="429577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36523" y="-507"/>
            <a:ext cx="786955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5609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0000"/>
                </a:solidFill>
              </a:rPr>
              <a:t>In</a:t>
            </a:r>
            <a:r>
              <a:rPr sz="3200" spc="-50" dirty="0">
                <a:solidFill>
                  <a:srgbClr val="FF0000"/>
                </a:solidFill>
              </a:rPr>
              <a:t> </a:t>
            </a:r>
            <a:r>
              <a:rPr sz="3200" spc="-10" dirty="0">
                <a:solidFill>
                  <a:srgbClr val="FF0000"/>
                </a:solidFill>
              </a:rPr>
              <a:t>general,</a:t>
            </a:r>
            <a:r>
              <a:rPr sz="3200" spc="-50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an</a:t>
            </a:r>
            <a:r>
              <a:rPr sz="3200" spc="-40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increase</a:t>
            </a:r>
            <a:r>
              <a:rPr sz="3200" spc="-35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in</a:t>
            </a:r>
            <a:r>
              <a:rPr sz="3200" spc="-45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fixed</a:t>
            </a:r>
            <a:r>
              <a:rPr sz="3200" spc="-55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costs</a:t>
            </a:r>
            <a:r>
              <a:rPr sz="3200" spc="-40" dirty="0">
                <a:solidFill>
                  <a:srgbClr val="FF0000"/>
                </a:solidFill>
              </a:rPr>
              <a:t> </a:t>
            </a:r>
            <a:r>
              <a:rPr sz="3200" spc="-20" dirty="0">
                <a:solidFill>
                  <a:srgbClr val="FF0000"/>
                </a:solidFill>
              </a:rPr>
              <a:t>will </a:t>
            </a:r>
            <a:r>
              <a:rPr sz="3200" dirty="0">
                <a:solidFill>
                  <a:srgbClr val="FF0000"/>
                </a:solidFill>
              </a:rPr>
              <a:t>increase</a:t>
            </a:r>
            <a:r>
              <a:rPr sz="3200" spc="-90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the</a:t>
            </a:r>
            <a:r>
              <a:rPr sz="3200" spc="-80" dirty="0">
                <a:solidFill>
                  <a:srgbClr val="FF0000"/>
                </a:solidFill>
              </a:rPr>
              <a:t> break-</a:t>
            </a:r>
            <a:r>
              <a:rPr sz="3200" dirty="0">
                <a:solidFill>
                  <a:srgbClr val="FF0000"/>
                </a:solidFill>
              </a:rPr>
              <a:t>even</a:t>
            </a:r>
            <a:r>
              <a:rPr sz="3200" spc="-80" dirty="0">
                <a:solidFill>
                  <a:srgbClr val="FF0000"/>
                </a:solidFill>
              </a:rPr>
              <a:t> </a:t>
            </a:r>
            <a:r>
              <a:rPr sz="3200" dirty="0">
                <a:solidFill>
                  <a:srgbClr val="FF0000"/>
                </a:solidFill>
              </a:rPr>
              <a:t>point,</a:t>
            </a:r>
            <a:r>
              <a:rPr sz="3200" spc="-75" dirty="0">
                <a:solidFill>
                  <a:srgbClr val="FF0000"/>
                </a:solidFill>
              </a:rPr>
              <a:t> </a:t>
            </a:r>
            <a:r>
              <a:rPr sz="3200" spc="-20" dirty="0">
                <a:solidFill>
                  <a:srgbClr val="FF0000"/>
                </a:solidFill>
              </a:rPr>
              <a:t>all</a:t>
            </a:r>
            <a:r>
              <a:rPr sz="3200" spc="-80" dirty="0">
                <a:solidFill>
                  <a:srgbClr val="FF0000"/>
                </a:solidFill>
              </a:rPr>
              <a:t> </a:t>
            </a:r>
            <a:r>
              <a:rPr sz="3200" spc="-25" dirty="0">
                <a:solidFill>
                  <a:srgbClr val="FF0000"/>
                </a:solidFill>
              </a:rPr>
              <a:t>other</a:t>
            </a:r>
            <a:r>
              <a:rPr sz="3200" spc="-75" dirty="0">
                <a:solidFill>
                  <a:srgbClr val="FF0000"/>
                </a:solidFill>
              </a:rPr>
              <a:t> </a:t>
            </a:r>
            <a:r>
              <a:rPr sz="3200" spc="-10" dirty="0">
                <a:solidFill>
                  <a:srgbClr val="FF0000"/>
                </a:solidFill>
              </a:rPr>
              <a:t>things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3349878" y="975106"/>
            <a:ext cx="24453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0000"/>
                </a:solidFill>
                <a:latin typeface="Times New Roman"/>
                <a:cs typeface="Times New Roman"/>
              </a:rPr>
              <a:t>held</a:t>
            </a:r>
            <a:r>
              <a:rPr sz="3200" b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constant.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501650"/>
            <a:ext cx="9144000" cy="63500"/>
          </a:xfrm>
          <a:custGeom>
            <a:avLst/>
            <a:gdLst/>
            <a:ahLst/>
            <a:cxnLst/>
            <a:rect l="l" t="t" r="r" b="b"/>
            <a:pathLst>
              <a:path w="9144000" h="63500">
                <a:moveTo>
                  <a:pt x="0" y="63500"/>
                </a:moveTo>
                <a:lnTo>
                  <a:pt x="9144000" y="63500"/>
                </a:lnTo>
                <a:lnTo>
                  <a:pt x="9144000" y="0"/>
                </a:lnTo>
                <a:lnTo>
                  <a:pt x="0" y="0"/>
                </a:lnTo>
                <a:lnTo>
                  <a:pt x="0" y="6350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5297" y="5770491"/>
            <a:ext cx="8293100" cy="850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735"/>
              </a:lnSpc>
            </a:pPr>
            <a:r>
              <a:rPr sz="2400" b="1" spc="-10" dirty="0">
                <a:solidFill>
                  <a:srgbClr val="FFCC00"/>
                </a:solidFill>
                <a:latin typeface="Arial"/>
                <a:cs typeface="Arial"/>
              </a:rPr>
              <a:t>Sensitivity</a:t>
            </a:r>
            <a:r>
              <a:rPr sz="2400" b="1" spc="-12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Analysis</a:t>
            </a:r>
            <a:r>
              <a:rPr sz="2400" b="1" spc="1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-</a:t>
            </a:r>
            <a:r>
              <a:rPr sz="2400" b="1" spc="-3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CC00"/>
                </a:solidFill>
                <a:latin typeface="Arial"/>
                <a:cs typeface="Arial"/>
              </a:rPr>
              <a:t>Break-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Even</a:t>
            </a:r>
            <a:r>
              <a:rPr sz="2400" b="1" spc="-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Model</a:t>
            </a:r>
            <a:r>
              <a:rPr sz="2400" b="1" spc="-4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with</a:t>
            </a:r>
            <a:r>
              <a:rPr sz="2400" b="1" spc="-6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a</a:t>
            </a:r>
            <a:r>
              <a:rPr sz="2400" b="1" spc="-35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CC00"/>
                </a:solidFill>
                <a:latin typeface="Arial"/>
                <a:cs typeface="Arial"/>
              </a:rPr>
              <a:t>Change</a:t>
            </a:r>
            <a:r>
              <a:rPr sz="2400" b="1" spc="-20" dirty="0">
                <a:solidFill>
                  <a:srgbClr val="FFCC0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CC00"/>
                </a:solidFill>
                <a:latin typeface="Arial"/>
                <a:cs typeface="Arial"/>
              </a:rPr>
              <a:t>in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3825"/>
              </a:lnSpc>
            </a:pPr>
            <a:r>
              <a:rPr sz="3200" b="1" dirty="0">
                <a:solidFill>
                  <a:srgbClr val="FF0000"/>
                </a:solidFill>
                <a:latin typeface="Arial"/>
                <a:cs typeface="Arial"/>
              </a:rPr>
              <a:t>Fixed</a:t>
            </a:r>
            <a:r>
              <a:rPr sz="32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3200" b="1" spc="-20" dirty="0">
                <a:solidFill>
                  <a:srgbClr val="FF0000"/>
                </a:solidFill>
                <a:latin typeface="Arial"/>
                <a:cs typeface="Arial"/>
              </a:rPr>
              <a:t>Cost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440" y="5587"/>
            <a:ext cx="8276488" cy="6771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143000" y="3558778"/>
            <a:ext cx="6858000" cy="124182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2050" name="Picture 2" descr="لا يتوفر وصف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276600"/>
            <a:ext cx="91440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لا يتوفر وصف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87"/>
            <a:ext cx="9143999" cy="329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569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5440" y="5587"/>
            <a:ext cx="8276488" cy="6771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143000" y="3558778"/>
            <a:ext cx="6858000" cy="124182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3074" name="Picture 2" descr="لا يتوفر وصف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9144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لا يتوفر وصف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87"/>
            <a:ext cx="9144000" cy="3423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854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440" y="-507"/>
            <a:ext cx="8453119" cy="67710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992" y="2479675"/>
            <a:ext cx="7947025" cy="369332"/>
          </a:xfrm>
        </p:spPr>
        <p:txBody>
          <a:bodyPr/>
          <a:lstStyle/>
          <a:p>
            <a:endParaRPr lang="en-US"/>
          </a:p>
        </p:txBody>
      </p:sp>
      <p:pic>
        <p:nvPicPr>
          <p:cNvPr id="4100" name="Picture 4" descr="لا يتوفر وصف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834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42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440" y="-507"/>
            <a:ext cx="8453119" cy="67710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992" y="2479675"/>
            <a:ext cx="7947025" cy="369332"/>
          </a:xfrm>
        </p:spPr>
        <p:txBody>
          <a:bodyPr/>
          <a:lstStyle/>
          <a:p>
            <a:endParaRPr lang="en-US"/>
          </a:p>
        </p:txBody>
      </p:sp>
      <p:pic>
        <p:nvPicPr>
          <p:cNvPr id="1026" name="Picture 2" descr="لا يتوفر وصف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33164"/>
            <a:ext cx="9144000" cy="6967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3571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1" y="2971800"/>
            <a:ext cx="3886200" cy="830997"/>
          </a:xfrm>
        </p:spPr>
        <p:txBody>
          <a:bodyPr/>
          <a:lstStyle/>
          <a:p>
            <a:pPr algn="ctr"/>
            <a:r>
              <a:rPr lang="en-US" sz="5400" dirty="0" smtClean="0"/>
              <a:t>  Thank You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097460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406</Words>
  <Application>Microsoft Office PowerPoint</Application>
  <PresentationFormat>On-screen Show (4:3)</PresentationFormat>
  <Paragraphs>71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DejaVu Sans</vt:lpstr>
      <vt:lpstr>Times New Roman</vt:lpstr>
      <vt:lpstr>Office Theme</vt:lpstr>
      <vt:lpstr>PowerPoint Presentation</vt:lpstr>
      <vt:lpstr>PowerPoint Presentation</vt:lpstr>
      <vt:lpstr>Steps in the Management Science Process</vt:lpstr>
      <vt:lpstr>Break-Even Analysis</vt:lpstr>
      <vt:lpstr>Components of Break-Even Analysis</vt:lpstr>
      <vt:lpstr>Costs</vt:lpstr>
      <vt:lpstr>PowerPoint Presentation</vt:lpstr>
      <vt:lpstr>Example #1</vt:lpstr>
      <vt:lpstr>Computing the Break-Even Point</vt:lpstr>
      <vt:lpstr>Example #2</vt:lpstr>
      <vt:lpstr>Break-Even Analysis</vt:lpstr>
      <vt:lpstr>In general, an increase in price lowers the break-even point, all other things held constant.</vt:lpstr>
      <vt:lpstr>In general, an increase in variable costs will increase the</vt:lpstr>
      <vt:lpstr>In general, an increase in fixed costs will increase the break-even point, all other things</vt:lpstr>
      <vt:lpstr>PowerPoint Presentation</vt:lpstr>
      <vt:lpstr>PowerPoint Presentation</vt:lpstr>
      <vt:lpstr>PowerPoint Presentation</vt:lpstr>
      <vt:lpstr>PowerPoint Presentation</vt:lpstr>
      <vt:lpstr>  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Preferred Customer</dc:creator>
  <cp:lastModifiedBy>Salwa</cp:lastModifiedBy>
  <cp:revision>4</cp:revision>
  <dcterms:created xsi:type="dcterms:W3CDTF">2025-02-11T18:56:05Z</dcterms:created>
  <dcterms:modified xsi:type="dcterms:W3CDTF">2025-02-11T19:34:47Z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2018-02-08T00:00:00Z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2025-02-11T00:00:00Z</vt:filetime>
  </property>
  <property fmtid="{D5CDD505-2E9C-101B-9397-08002B2CF9AE}" pid="5" name="Producer">
    <vt:lpwstr>3-Heights(TM) PDF Security Shell 4.8.25.2 (http://www.pdf-tools.com)</vt:lpwstr>
  </property>
</Properties>
</file>